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nantason Bold" charset="1" panose="00000000000000000000"/>
      <p:regular r:id="rId16"/>
    </p:embeddedFont>
    <p:embeddedFont>
      <p:font typeface="Cloud Bold" charset="1" panose="02000000000000000000"/>
      <p:regular r:id="rId17"/>
    </p:embeddedFont>
    <p:embeddedFont>
      <p:font typeface="Cloud" charset="1" panose="02000000000000000000"/>
      <p:regular r:id="rId18"/>
    </p:embeddedFont>
    <p:embeddedFont>
      <p:font typeface="Anantason" charset="1" panose="00000000000000000000"/>
      <p:regular r:id="rId19"/>
    </p:embeddedFont>
    <p:embeddedFont>
      <p:font typeface="Heebo Bold" charset="1" panose="00000800000000000000"/>
      <p:regular r:id="rId20"/>
    </p:embeddedFont>
    <p:embeddedFont>
      <p:font typeface="Heebo Light" charset="1" panose="000004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png" Type="http://schemas.openxmlformats.org/officeDocument/2006/relationships/image"/><Relationship Id="rId12" Target="../media/image2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svg" Type="http://schemas.openxmlformats.org/officeDocument/2006/relationships/image"/><Relationship Id="rId11" Target="../media/image24.png" Type="http://schemas.openxmlformats.org/officeDocument/2006/relationships/image"/><Relationship Id="rId12" Target="../media/image25.svg" Type="http://schemas.openxmlformats.org/officeDocument/2006/relationships/image"/><Relationship Id="rId13" Target="../media/image26.png" Type="http://schemas.openxmlformats.org/officeDocument/2006/relationships/image"/><Relationship Id="rId14" Target="../media/image27.svg" Type="http://schemas.openxmlformats.org/officeDocument/2006/relationships/image"/><Relationship Id="rId15" Target="../media/image28.png" Type="http://schemas.openxmlformats.org/officeDocument/2006/relationships/image"/><Relationship Id="rId16" Target="../media/image29.svg" Type="http://schemas.openxmlformats.org/officeDocument/2006/relationships/image"/><Relationship Id="rId2" Target="../media/image21.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2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9F2F7"/>
        </a:solidFill>
      </p:bgPr>
    </p:bg>
    <p:spTree>
      <p:nvGrpSpPr>
        <p:cNvPr id="1" name=""/>
        <p:cNvGrpSpPr/>
        <p:nvPr/>
      </p:nvGrpSpPr>
      <p:grpSpPr>
        <a:xfrm>
          <a:off x="0" y="0"/>
          <a:ext cx="0" cy="0"/>
          <a:chOff x="0" y="0"/>
          <a:chExt cx="0" cy="0"/>
        </a:xfrm>
      </p:grpSpPr>
      <p:sp>
        <p:nvSpPr>
          <p:cNvPr name="Freeform 2" id="2"/>
          <p:cNvSpPr/>
          <p:nvPr/>
        </p:nvSpPr>
        <p:spPr>
          <a:xfrm flipH="false" flipV="false" rot="0">
            <a:off x="-624614" y="6515100"/>
            <a:ext cx="7059478" cy="4114800"/>
          </a:xfrm>
          <a:custGeom>
            <a:avLst/>
            <a:gdLst/>
            <a:ahLst/>
            <a:cxnLst/>
            <a:rect r="r" b="b" t="t" l="l"/>
            <a:pathLst>
              <a:path h="4114800" w="7059478">
                <a:moveTo>
                  <a:pt x="0" y="0"/>
                </a:moveTo>
                <a:lnTo>
                  <a:pt x="7059478" y="0"/>
                </a:lnTo>
                <a:lnTo>
                  <a:pt x="705947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1924574" y="-357188"/>
            <a:ext cx="7059478" cy="4114800"/>
          </a:xfrm>
          <a:custGeom>
            <a:avLst/>
            <a:gdLst/>
            <a:ahLst/>
            <a:cxnLst/>
            <a:rect r="r" b="b" t="t" l="l"/>
            <a:pathLst>
              <a:path h="4114800" w="7059478">
                <a:moveTo>
                  <a:pt x="7059477" y="4114800"/>
                </a:moveTo>
                <a:lnTo>
                  <a:pt x="0" y="4114800"/>
                </a:lnTo>
                <a:lnTo>
                  <a:pt x="0" y="0"/>
                </a:lnTo>
                <a:lnTo>
                  <a:pt x="7059477" y="0"/>
                </a:lnTo>
                <a:lnTo>
                  <a:pt x="7059477"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002168">
            <a:off x="-1222246" y="-3356253"/>
            <a:ext cx="5987226" cy="5998131"/>
          </a:xfrm>
          <a:custGeom>
            <a:avLst/>
            <a:gdLst/>
            <a:ahLst/>
            <a:cxnLst/>
            <a:rect r="r" b="b" t="t" l="l"/>
            <a:pathLst>
              <a:path h="5998131" w="5987226">
                <a:moveTo>
                  <a:pt x="0" y="0"/>
                </a:moveTo>
                <a:lnTo>
                  <a:pt x="5987225" y="0"/>
                </a:lnTo>
                <a:lnTo>
                  <a:pt x="5987225" y="5998131"/>
                </a:lnTo>
                <a:lnTo>
                  <a:pt x="0" y="59981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002168">
            <a:off x="14265687" y="7630834"/>
            <a:ext cx="5987226" cy="5998131"/>
          </a:xfrm>
          <a:custGeom>
            <a:avLst/>
            <a:gdLst/>
            <a:ahLst/>
            <a:cxnLst/>
            <a:rect r="r" b="b" t="t" l="l"/>
            <a:pathLst>
              <a:path h="5998131" w="5987226">
                <a:moveTo>
                  <a:pt x="5987226" y="5998132"/>
                </a:moveTo>
                <a:lnTo>
                  <a:pt x="0" y="5998132"/>
                </a:lnTo>
                <a:lnTo>
                  <a:pt x="0" y="0"/>
                </a:lnTo>
                <a:lnTo>
                  <a:pt x="5987226" y="0"/>
                </a:lnTo>
                <a:lnTo>
                  <a:pt x="5987226" y="599813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7488824">
            <a:off x="-221065" y="7727724"/>
            <a:ext cx="3071030" cy="5804353"/>
          </a:xfrm>
          <a:custGeom>
            <a:avLst/>
            <a:gdLst/>
            <a:ahLst/>
            <a:cxnLst/>
            <a:rect r="r" b="b" t="t" l="l"/>
            <a:pathLst>
              <a:path h="5804353" w="3071030">
                <a:moveTo>
                  <a:pt x="0" y="0"/>
                </a:moveTo>
                <a:lnTo>
                  <a:pt x="3071030" y="0"/>
                </a:lnTo>
                <a:lnTo>
                  <a:pt x="3071030" y="5804352"/>
                </a:lnTo>
                <a:lnTo>
                  <a:pt x="0" y="5804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7488824">
            <a:off x="17178162" y="-1873476"/>
            <a:ext cx="3071030" cy="5804353"/>
          </a:xfrm>
          <a:custGeom>
            <a:avLst/>
            <a:gdLst/>
            <a:ahLst/>
            <a:cxnLst/>
            <a:rect r="r" b="b" t="t" l="l"/>
            <a:pathLst>
              <a:path h="5804353" w="3071030">
                <a:moveTo>
                  <a:pt x="0" y="0"/>
                </a:moveTo>
                <a:lnTo>
                  <a:pt x="3071030" y="0"/>
                </a:lnTo>
                <a:lnTo>
                  <a:pt x="3071030" y="5804352"/>
                </a:lnTo>
                <a:lnTo>
                  <a:pt x="0" y="5804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2098849" y="3567063"/>
            <a:ext cx="14090303" cy="1202059"/>
          </a:xfrm>
          <a:prstGeom prst="rect">
            <a:avLst/>
          </a:prstGeom>
        </p:spPr>
        <p:txBody>
          <a:bodyPr anchor="t" rtlCol="false" tIns="0" lIns="0" bIns="0" rIns="0">
            <a:spAutoFit/>
          </a:bodyPr>
          <a:lstStyle/>
          <a:p>
            <a:pPr algn="ctr">
              <a:lnSpc>
                <a:spcPts val="9849"/>
              </a:lnSpc>
            </a:pPr>
            <a:r>
              <a:rPr lang="en-US" b="true" sz="7035">
                <a:solidFill>
                  <a:srgbClr val="0C3571"/>
                </a:solidFill>
                <a:latin typeface="Anantason Bold"/>
                <a:ea typeface="Anantason Bold"/>
                <a:cs typeface="Anantason Bold"/>
                <a:sym typeface="Anantason Bold"/>
              </a:rPr>
              <a:t>FLIP DART SALES ANALYSIS</a:t>
            </a:r>
          </a:p>
        </p:txBody>
      </p:sp>
      <p:sp>
        <p:nvSpPr>
          <p:cNvPr name="TextBox 9" id="9"/>
          <p:cNvSpPr txBox="true"/>
          <p:nvPr/>
        </p:nvSpPr>
        <p:spPr>
          <a:xfrm rot="0">
            <a:off x="2227154" y="4920022"/>
            <a:ext cx="13833693" cy="1666564"/>
          </a:xfrm>
          <a:prstGeom prst="rect">
            <a:avLst/>
          </a:prstGeom>
        </p:spPr>
        <p:txBody>
          <a:bodyPr anchor="t" rtlCol="false" tIns="0" lIns="0" bIns="0" rIns="0">
            <a:spAutoFit/>
          </a:bodyPr>
          <a:lstStyle/>
          <a:p>
            <a:pPr algn="ctr">
              <a:lnSpc>
                <a:spcPts val="4394"/>
              </a:lnSpc>
            </a:pPr>
            <a:r>
              <a:rPr lang="en-US" sz="3138" b="true">
                <a:solidFill>
                  <a:srgbClr val="0C3571"/>
                </a:solidFill>
                <a:latin typeface="Cloud Bold"/>
                <a:ea typeface="Cloud Bold"/>
                <a:cs typeface="Cloud Bold"/>
                <a:sym typeface="Cloud Bold"/>
              </a:rPr>
              <a:t>Business Problem :</a:t>
            </a:r>
            <a:r>
              <a:rPr lang="en-US" sz="3138">
                <a:solidFill>
                  <a:srgbClr val="0C3571"/>
                </a:solidFill>
                <a:latin typeface="Cloud"/>
                <a:ea typeface="Cloud"/>
                <a:cs typeface="Cloud"/>
                <a:sym typeface="Cloud"/>
              </a:rPr>
              <a:t> A Flip dart Company wants to better understand its customer’s satisfaction, long-term loyalty and factors such as discounts, reviews, age group and categories.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9F2F7"/>
        </a:solidFill>
      </p:bgPr>
    </p:bg>
    <p:spTree>
      <p:nvGrpSpPr>
        <p:cNvPr id="1" name=""/>
        <p:cNvGrpSpPr/>
        <p:nvPr/>
      </p:nvGrpSpPr>
      <p:grpSpPr>
        <a:xfrm>
          <a:off x="0" y="0"/>
          <a:ext cx="0" cy="0"/>
          <a:chOff x="0" y="0"/>
          <a:chExt cx="0" cy="0"/>
        </a:xfrm>
      </p:grpSpPr>
      <p:sp>
        <p:nvSpPr>
          <p:cNvPr name="Freeform 2" id="2"/>
          <p:cNvSpPr/>
          <p:nvPr/>
        </p:nvSpPr>
        <p:spPr>
          <a:xfrm flipH="false" flipV="false" rot="0">
            <a:off x="-624614" y="6515100"/>
            <a:ext cx="7059478" cy="4114800"/>
          </a:xfrm>
          <a:custGeom>
            <a:avLst/>
            <a:gdLst/>
            <a:ahLst/>
            <a:cxnLst/>
            <a:rect r="r" b="b" t="t" l="l"/>
            <a:pathLst>
              <a:path h="4114800" w="7059478">
                <a:moveTo>
                  <a:pt x="0" y="0"/>
                </a:moveTo>
                <a:lnTo>
                  <a:pt x="7059478" y="0"/>
                </a:lnTo>
                <a:lnTo>
                  <a:pt x="705947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1924574" y="-357188"/>
            <a:ext cx="7059478" cy="4114800"/>
          </a:xfrm>
          <a:custGeom>
            <a:avLst/>
            <a:gdLst/>
            <a:ahLst/>
            <a:cxnLst/>
            <a:rect r="r" b="b" t="t" l="l"/>
            <a:pathLst>
              <a:path h="4114800" w="7059478">
                <a:moveTo>
                  <a:pt x="7059477" y="4114800"/>
                </a:moveTo>
                <a:lnTo>
                  <a:pt x="0" y="4114800"/>
                </a:lnTo>
                <a:lnTo>
                  <a:pt x="0" y="0"/>
                </a:lnTo>
                <a:lnTo>
                  <a:pt x="7059477" y="0"/>
                </a:lnTo>
                <a:lnTo>
                  <a:pt x="7059477"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002168">
            <a:off x="-1222246" y="-3356253"/>
            <a:ext cx="5987226" cy="5998131"/>
          </a:xfrm>
          <a:custGeom>
            <a:avLst/>
            <a:gdLst/>
            <a:ahLst/>
            <a:cxnLst/>
            <a:rect r="r" b="b" t="t" l="l"/>
            <a:pathLst>
              <a:path h="5998131" w="5987226">
                <a:moveTo>
                  <a:pt x="0" y="0"/>
                </a:moveTo>
                <a:lnTo>
                  <a:pt x="5987225" y="0"/>
                </a:lnTo>
                <a:lnTo>
                  <a:pt x="5987225" y="5998131"/>
                </a:lnTo>
                <a:lnTo>
                  <a:pt x="0" y="59981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002168">
            <a:off x="14265687" y="7630834"/>
            <a:ext cx="5987226" cy="5998131"/>
          </a:xfrm>
          <a:custGeom>
            <a:avLst/>
            <a:gdLst/>
            <a:ahLst/>
            <a:cxnLst/>
            <a:rect r="r" b="b" t="t" l="l"/>
            <a:pathLst>
              <a:path h="5998131" w="5987226">
                <a:moveTo>
                  <a:pt x="5987226" y="5998132"/>
                </a:moveTo>
                <a:lnTo>
                  <a:pt x="0" y="5998132"/>
                </a:lnTo>
                <a:lnTo>
                  <a:pt x="0" y="0"/>
                </a:lnTo>
                <a:lnTo>
                  <a:pt x="5987226" y="0"/>
                </a:lnTo>
                <a:lnTo>
                  <a:pt x="5987226" y="599813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7488824">
            <a:off x="-221065" y="7727724"/>
            <a:ext cx="3071030" cy="5804353"/>
          </a:xfrm>
          <a:custGeom>
            <a:avLst/>
            <a:gdLst/>
            <a:ahLst/>
            <a:cxnLst/>
            <a:rect r="r" b="b" t="t" l="l"/>
            <a:pathLst>
              <a:path h="5804353" w="3071030">
                <a:moveTo>
                  <a:pt x="0" y="0"/>
                </a:moveTo>
                <a:lnTo>
                  <a:pt x="3071030" y="0"/>
                </a:lnTo>
                <a:lnTo>
                  <a:pt x="3071030" y="5804352"/>
                </a:lnTo>
                <a:lnTo>
                  <a:pt x="0" y="5804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7488824">
            <a:off x="17178162" y="-1873476"/>
            <a:ext cx="3071030" cy="5804353"/>
          </a:xfrm>
          <a:custGeom>
            <a:avLst/>
            <a:gdLst/>
            <a:ahLst/>
            <a:cxnLst/>
            <a:rect r="r" b="b" t="t" l="l"/>
            <a:pathLst>
              <a:path h="5804353" w="3071030">
                <a:moveTo>
                  <a:pt x="0" y="0"/>
                </a:moveTo>
                <a:lnTo>
                  <a:pt x="3071030" y="0"/>
                </a:lnTo>
                <a:lnTo>
                  <a:pt x="3071030" y="5804352"/>
                </a:lnTo>
                <a:lnTo>
                  <a:pt x="0" y="5804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6538020" y="2180748"/>
            <a:ext cx="5211961" cy="781945"/>
          </a:xfrm>
          <a:prstGeom prst="rect">
            <a:avLst/>
          </a:prstGeom>
        </p:spPr>
        <p:txBody>
          <a:bodyPr anchor="t" rtlCol="false" tIns="0" lIns="0" bIns="0" rIns="0">
            <a:spAutoFit/>
          </a:bodyPr>
          <a:lstStyle/>
          <a:p>
            <a:pPr algn="l">
              <a:lnSpc>
                <a:spcPts val="6217"/>
              </a:lnSpc>
            </a:pPr>
            <a:r>
              <a:rPr lang="en-US" b="true" sz="5000">
                <a:solidFill>
                  <a:srgbClr val="0C3571"/>
                </a:solidFill>
                <a:latin typeface="Anantason Bold"/>
                <a:ea typeface="Anantason Bold"/>
                <a:cs typeface="Anantason Bold"/>
                <a:sym typeface="Anantason Bold"/>
              </a:rPr>
              <a:t>Dataset Overview</a:t>
            </a:r>
          </a:p>
        </p:txBody>
      </p:sp>
      <p:sp>
        <p:nvSpPr>
          <p:cNvPr name="TextBox 9" id="9"/>
          <p:cNvSpPr txBox="true"/>
          <p:nvPr/>
        </p:nvSpPr>
        <p:spPr>
          <a:xfrm rot="0">
            <a:off x="2911645" y="3481754"/>
            <a:ext cx="2033349" cy="877888"/>
          </a:xfrm>
          <a:prstGeom prst="rect">
            <a:avLst/>
          </a:prstGeom>
        </p:spPr>
        <p:txBody>
          <a:bodyPr anchor="t" rtlCol="false" tIns="0" lIns="0" bIns="0" rIns="0">
            <a:spAutoFit/>
          </a:bodyPr>
          <a:lstStyle/>
          <a:p>
            <a:pPr algn="ctr">
              <a:lnSpc>
                <a:spcPts val="6437"/>
              </a:lnSpc>
            </a:pPr>
            <a:r>
              <a:rPr lang="en-US" sz="6437">
                <a:solidFill>
                  <a:srgbClr val="0C3571"/>
                </a:solidFill>
                <a:latin typeface="Cloud"/>
                <a:ea typeface="Cloud"/>
                <a:cs typeface="Cloud"/>
                <a:sym typeface="Cloud"/>
              </a:rPr>
              <a:t>3,900</a:t>
            </a:r>
          </a:p>
        </p:txBody>
      </p:sp>
      <p:sp>
        <p:nvSpPr>
          <p:cNvPr name="TextBox 10" id="10"/>
          <p:cNvSpPr txBox="true"/>
          <p:nvPr/>
        </p:nvSpPr>
        <p:spPr>
          <a:xfrm rot="0">
            <a:off x="2579237" y="4496167"/>
            <a:ext cx="2374013" cy="381000"/>
          </a:xfrm>
          <a:prstGeom prst="rect">
            <a:avLst/>
          </a:prstGeom>
        </p:spPr>
        <p:txBody>
          <a:bodyPr anchor="t" rtlCol="false" tIns="0" lIns="0" bIns="0" rIns="0">
            <a:spAutoFit/>
          </a:bodyPr>
          <a:lstStyle/>
          <a:p>
            <a:pPr algn="ctr">
              <a:lnSpc>
                <a:spcPts val="2999"/>
              </a:lnSpc>
            </a:pPr>
            <a:r>
              <a:rPr lang="en-US" sz="2437">
                <a:solidFill>
                  <a:srgbClr val="0C3571"/>
                </a:solidFill>
                <a:latin typeface="Cloud"/>
                <a:ea typeface="Cloud"/>
                <a:cs typeface="Cloud"/>
                <a:sym typeface="Cloud"/>
              </a:rPr>
              <a:t>Total Purchases</a:t>
            </a:r>
          </a:p>
        </p:txBody>
      </p:sp>
      <p:sp>
        <p:nvSpPr>
          <p:cNvPr name="TextBox 11" id="11"/>
          <p:cNvSpPr txBox="true"/>
          <p:nvPr/>
        </p:nvSpPr>
        <p:spPr>
          <a:xfrm rot="0">
            <a:off x="1314450" y="4956491"/>
            <a:ext cx="5227739" cy="1165225"/>
          </a:xfrm>
          <a:prstGeom prst="rect">
            <a:avLst/>
          </a:prstGeom>
        </p:spPr>
        <p:txBody>
          <a:bodyPr anchor="t" rtlCol="false" tIns="0" lIns="0" bIns="0" rIns="0">
            <a:spAutoFit/>
          </a:bodyPr>
          <a:lstStyle/>
          <a:p>
            <a:pPr algn="ctr">
              <a:lnSpc>
                <a:spcPts val="3125"/>
              </a:lnSpc>
            </a:pPr>
            <a:r>
              <a:rPr lang="en-US" sz="1937">
                <a:solidFill>
                  <a:srgbClr val="0C3571"/>
                </a:solidFill>
                <a:latin typeface="Cloud"/>
                <a:ea typeface="Cloud"/>
                <a:cs typeface="Cloud"/>
                <a:sym typeface="Cloud"/>
              </a:rPr>
              <a:t>Comprehensive transaction data spanning multiple customer segments and product categories</a:t>
            </a:r>
          </a:p>
        </p:txBody>
      </p:sp>
      <p:sp>
        <p:nvSpPr>
          <p:cNvPr name="TextBox 12" id="12"/>
          <p:cNvSpPr txBox="true"/>
          <p:nvPr/>
        </p:nvSpPr>
        <p:spPr>
          <a:xfrm rot="0">
            <a:off x="8710262" y="3481754"/>
            <a:ext cx="940237" cy="877888"/>
          </a:xfrm>
          <a:prstGeom prst="rect">
            <a:avLst/>
          </a:prstGeom>
        </p:spPr>
        <p:txBody>
          <a:bodyPr anchor="t" rtlCol="false" tIns="0" lIns="0" bIns="0" rIns="0">
            <a:spAutoFit/>
          </a:bodyPr>
          <a:lstStyle/>
          <a:p>
            <a:pPr algn="ctr">
              <a:lnSpc>
                <a:spcPts val="6437"/>
              </a:lnSpc>
            </a:pPr>
            <a:r>
              <a:rPr lang="en-US" sz="6437">
                <a:solidFill>
                  <a:srgbClr val="0C3571"/>
                </a:solidFill>
                <a:latin typeface="Cloud"/>
                <a:ea typeface="Cloud"/>
                <a:cs typeface="Cloud"/>
                <a:sym typeface="Cloud"/>
              </a:rPr>
              <a:t>18</a:t>
            </a:r>
          </a:p>
        </p:txBody>
      </p:sp>
      <p:sp>
        <p:nvSpPr>
          <p:cNvPr name="TextBox 13" id="13"/>
          <p:cNvSpPr txBox="true"/>
          <p:nvPr/>
        </p:nvSpPr>
        <p:spPr>
          <a:xfrm rot="0">
            <a:off x="8210800" y="4496167"/>
            <a:ext cx="2111838" cy="381000"/>
          </a:xfrm>
          <a:prstGeom prst="rect">
            <a:avLst/>
          </a:prstGeom>
        </p:spPr>
        <p:txBody>
          <a:bodyPr anchor="t" rtlCol="false" tIns="0" lIns="0" bIns="0" rIns="0">
            <a:spAutoFit/>
          </a:bodyPr>
          <a:lstStyle/>
          <a:p>
            <a:pPr algn="ctr">
              <a:lnSpc>
                <a:spcPts val="2999"/>
              </a:lnSpc>
            </a:pPr>
            <a:r>
              <a:rPr lang="en-US" sz="2437">
                <a:solidFill>
                  <a:srgbClr val="0C3571"/>
                </a:solidFill>
                <a:latin typeface="Cloud"/>
                <a:ea typeface="Cloud"/>
                <a:cs typeface="Cloud"/>
                <a:sym typeface="Cloud"/>
              </a:rPr>
              <a:t>Data Columns</a:t>
            </a:r>
          </a:p>
        </p:txBody>
      </p:sp>
      <p:sp>
        <p:nvSpPr>
          <p:cNvPr name="TextBox 14" id="14"/>
          <p:cNvSpPr txBox="true"/>
          <p:nvPr/>
        </p:nvSpPr>
        <p:spPr>
          <a:xfrm rot="0">
            <a:off x="6566440" y="4956491"/>
            <a:ext cx="5227882" cy="1165225"/>
          </a:xfrm>
          <a:prstGeom prst="rect">
            <a:avLst/>
          </a:prstGeom>
        </p:spPr>
        <p:txBody>
          <a:bodyPr anchor="t" rtlCol="false" tIns="0" lIns="0" bIns="0" rIns="0">
            <a:spAutoFit/>
          </a:bodyPr>
          <a:lstStyle/>
          <a:p>
            <a:pPr algn="ctr">
              <a:lnSpc>
                <a:spcPts val="3125"/>
              </a:lnSpc>
            </a:pPr>
            <a:r>
              <a:rPr lang="en-US" sz="1937">
                <a:solidFill>
                  <a:srgbClr val="0C3571"/>
                </a:solidFill>
                <a:latin typeface="Cloud"/>
                <a:ea typeface="Cloud"/>
                <a:cs typeface="Cloud"/>
                <a:sym typeface="Cloud"/>
              </a:rPr>
              <a:t>Rich feature set including customer demographics, purchase behavior, and satisfaction metrics</a:t>
            </a:r>
          </a:p>
        </p:txBody>
      </p:sp>
      <p:sp>
        <p:nvSpPr>
          <p:cNvPr name="TextBox 15" id="15"/>
          <p:cNvSpPr txBox="true"/>
          <p:nvPr/>
        </p:nvSpPr>
        <p:spPr>
          <a:xfrm rot="0">
            <a:off x="13966719" y="3481754"/>
            <a:ext cx="940237" cy="877888"/>
          </a:xfrm>
          <a:prstGeom prst="rect">
            <a:avLst/>
          </a:prstGeom>
        </p:spPr>
        <p:txBody>
          <a:bodyPr anchor="t" rtlCol="false" tIns="0" lIns="0" bIns="0" rIns="0">
            <a:spAutoFit/>
          </a:bodyPr>
          <a:lstStyle/>
          <a:p>
            <a:pPr algn="ctr">
              <a:lnSpc>
                <a:spcPts val="6437"/>
              </a:lnSpc>
            </a:pPr>
            <a:r>
              <a:rPr lang="en-US" sz="6437">
                <a:solidFill>
                  <a:srgbClr val="0C3571"/>
                </a:solidFill>
                <a:latin typeface="Cloud"/>
                <a:ea typeface="Cloud"/>
                <a:cs typeface="Cloud"/>
                <a:sym typeface="Cloud"/>
              </a:rPr>
              <a:t>37</a:t>
            </a:r>
          </a:p>
        </p:txBody>
      </p:sp>
      <p:sp>
        <p:nvSpPr>
          <p:cNvPr name="TextBox 16" id="16"/>
          <p:cNvSpPr txBox="true"/>
          <p:nvPr/>
        </p:nvSpPr>
        <p:spPr>
          <a:xfrm rot="0">
            <a:off x="13404859" y="4496167"/>
            <a:ext cx="2167548" cy="381000"/>
          </a:xfrm>
          <a:prstGeom prst="rect">
            <a:avLst/>
          </a:prstGeom>
        </p:spPr>
        <p:txBody>
          <a:bodyPr anchor="t" rtlCol="false" tIns="0" lIns="0" bIns="0" rIns="0">
            <a:spAutoFit/>
          </a:bodyPr>
          <a:lstStyle/>
          <a:p>
            <a:pPr algn="ctr">
              <a:lnSpc>
                <a:spcPts val="2999"/>
              </a:lnSpc>
            </a:pPr>
            <a:r>
              <a:rPr lang="en-US" sz="2437">
                <a:solidFill>
                  <a:srgbClr val="0C3571"/>
                </a:solidFill>
                <a:latin typeface="Cloud"/>
                <a:ea typeface="Cloud"/>
                <a:cs typeface="Cloud"/>
                <a:sym typeface="Cloud"/>
              </a:rPr>
              <a:t>Missing Values</a:t>
            </a:r>
          </a:p>
        </p:txBody>
      </p:sp>
      <p:sp>
        <p:nvSpPr>
          <p:cNvPr name="TextBox 17" id="17"/>
          <p:cNvSpPr txBox="true"/>
          <p:nvPr/>
        </p:nvSpPr>
        <p:spPr>
          <a:xfrm rot="0">
            <a:off x="11822897" y="4956491"/>
            <a:ext cx="5227882" cy="1165225"/>
          </a:xfrm>
          <a:prstGeom prst="rect">
            <a:avLst/>
          </a:prstGeom>
        </p:spPr>
        <p:txBody>
          <a:bodyPr anchor="t" rtlCol="false" tIns="0" lIns="0" bIns="0" rIns="0">
            <a:spAutoFit/>
          </a:bodyPr>
          <a:lstStyle/>
          <a:p>
            <a:pPr algn="ctr">
              <a:lnSpc>
                <a:spcPts val="3125"/>
              </a:lnSpc>
            </a:pPr>
            <a:r>
              <a:rPr lang="en-US" sz="1937">
                <a:solidFill>
                  <a:srgbClr val="0C3571"/>
                </a:solidFill>
                <a:latin typeface="Cloud"/>
                <a:ea typeface="Cloud"/>
                <a:cs typeface="Cloud"/>
                <a:sym typeface="Cloud"/>
              </a:rPr>
              <a:t>Minimal data gaps limited to Review Rating column, ensuring high-quality analysis foundation</a:t>
            </a:r>
          </a:p>
        </p:txBody>
      </p:sp>
      <p:sp>
        <p:nvSpPr>
          <p:cNvPr name="TextBox 18" id="18"/>
          <p:cNvSpPr txBox="true"/>
          <p:nvPr/>
        </p:nvSpPr>
        <p:spPr>
          <a:xfrm rot="0">
            <a:off x="1552911" y="6445566"/>
            <a:ext cx="15182177" cy="1165225"/>
          </a:xfrm>
          <a:prstGeom prst="rect">
            <a:avLst/>
          </a:prstGeom>
        </p:spPr>
        <p:txBody>
          <a:bodyPr anchor="t" rtlCol="false" tIns="0" lIns="0" bIns="0" rIns="0">
            <a:spAutoFit/>
          </a:bodyPr>
          <a:lstStyle/>
          <a:p>
            <a:pPr algn="l">
              <a:lnSpc>
                <a:spcPts val="3125"/>
              </a:lnSpc>
            </a:pPr>
            <a:r>
              <a:rPr lang="en-US" sz="1937">
                <a:solidFill>
                  <a:srgbClr val="0C3571"/>
                </a:solidFill>
                <a:latin typeface="Cloud"/>
                <a:ea typeface="Cloud"/>
                <a:cs typeface="Cloud"/>
                <a:sym typeface="Cloud"/>
              </a:rPr>
              <a:t>Our dataset provides a robust foundation for understanding customer behavior patterns. With nearly 4,000 transactions and 18 detailed attributes, we can derive meaningful insights into purchasing trends, demographic preferences, and satisfaction drivers. The low number of missing values demonstrates strong data integrity, requiring only minor imputation for review ratings.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9F2F7"/>
        </a:solidFill>
      </p:bgPr>
    </p:bg>
    <p:spTree>
      <p:nvGrpSpPr>
        <p:cNvPr id="1" name=""/>
        <p:cNvGrpSpPr/>
        <p:nvPr/>
      </p:nvGrpSpPr>
      <p:grpSpPr>
        <a:xfrm>
          <a:off x="0" y="0"/>
          <a:ext cx="0" cy="0"/>
          <a:chOff x="0" y="0"/>
          <a:chExt cx="0" cy="0"/>
        </a:xfrm>
      </p:grpSpPr>
      <p:sp>
        <p:nvSpPr>
          <p:cNvPr name="Freeform 2" id="2"/>
          <p:cNvSpPr/>
          <p:nvPr/>
        </p:nvSpPr>
        <p:spPr>
          <a:xfrm flipH="false" flipV="false" rot="0">
            <a:off x="-624614" y="6515100"/>
            <a:ext cx="7059478" cy="4114800"/>
          </a:xfrm>
          <a:custGeom>
            <a:avLst/>
            <a:gdLst/>
            <a:ahLst/>
            <a:cxnLst/>
            <a:rect r="r" b="b" t="t" l="l"/>
            <a:pathLst>
              <a:path h="4114800" w="7059478">
                <a:moveTo>
                  <a:pt x="0" y="0"/>
                </a:moveTo>
                <a:lnTo>
                  <a:pt x="7059478" y="0"/>
                </a:lnTo>
                <a:lnTo>
                  <a:pt x="705947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1924574" y="-357188"/>
            <a:ext cx="7059478" cy="4114800"/>
          </a:xfrm>
          <a:custGeom>
            <a:avLst/>
            <a:gdLst/>
            <a:ahLst/>
            <a:cxnLst/>
            <a:rect r="r" b="b" t="t" l="l"/>
            <a:pathLst>
              <a:path h="4114800" w="7059478">
                <a:moveTo>
                  <a:pt x="7059477" y="4114800"/>
                </a:moveTo>
                <a:lnTo>
                  <a:pt x="0" y="4114800"/>
                </a:lnTo>
                <a:lnTo>
                  <a:pt x="0" y="0"/>
                </a:lnTo>
                <a:lnTo>
                  <a:pt x="7059477" y="0"/>
                </a:lnTo>
                <a:lnTo>
                  <a:pt x="7059477"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002168">
            <a:off x="-1222246" y="-3356253"/>
            <a:ext cx="5987226" cy="5998131"/>
          </a:xfrm>
          <a:custGeom>
            <a:avLst/>
            <a:gdLst/>
            <a:ahLst/>
            <a:cxnLst/>
            <a:rect r="r" b="b" t="t" l="l"/>
            <a:pathLst>
              <a:path h="5998131" w="5987226">
                <a:moveTo>
                  <a:pt x="0" y="0"/>
                </a:moveTo>
                <a:lnTo>
                  <a:pt x="5987225" y="0"/>
                </a:lnTo>
                <a:lnTo>
                  <a:pt x="5987225" y="5998131"/>
                </a:lnTo>
                <a:lnTo>
                  <a:pt x="0" y="59981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002168">
            <a:off x="14265687" y="7630834"/>
            <a:ext cx="5987226" cy="5998131"/>
          </a:xfrm>
          <a:custGeom>
            <a:avLst/>
            <a:gdLst/>
            <a:ahLst/>
            <a:cxnLst/>
            <a:rect r="r" b="b" t="t" l="l"/>
            <a:pathLst>
              <a:path h="5998131" w="5987226">
                <a:moveTo>
                  <a:pt x="5987226" y="5998132"/>
                </a:moveTo>
                <a:lnTo>
                  <a:pt x="0" y="5998132"/>
                </a:lnTo>
                <a:lnTo>
                  <a:pt x="0" y="0"/>
                </a:lnTo>
                <a:lnTo>
                  <a:pt x="5987226" y="0"/>
                </a:lnTo>
                <a:lnTo>
                  <a:pt x="5987226" y="599813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7488824">
            <a:off x="-221065" y="7727724"/>
            <a:ext cx="3071030" cy="5804353"/>
          </a:xfrm>
          <a:custGeom>
            <a:avLst/>
            <a:gdLst/>
            <a:ahLst/>
            <a:cxnLst/>
            <a:rect r="r" b="b" t="t" l="l"/>
            <a:pathLst>
              <a:path h="5804353" w="3071030">
                <a:moveTo>
                  <a:pt x="0" y="0"/>
                </a:moveTo>
                <a:lnTo>
                  <a:pt x="3071030" y="0"/>
                </a:lnTo>
                <a:lnTo>
                  <a:pt x="3071030" y="5804352"/>
                </a:lnTo>
                <a:lnTo>
                  <a:pt x="0" y="5804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7488824">
            <a:off x="17178162" y="-1873476"/>
            <a:ext cx="3071030" cy="5804353"/>
          </a:xfrm>
          <a:custGeom>
            <a:avLst/>
            <a:gdLst/>
            <a:ahLst/>
            <a:cxnLst/>
            <a:rect r="r" b="b" t="t" l="l"/>
            <a:pathLst>
              <a:path h="5804353" w="3071030">
                <a:moveTo>
                  <a:pt x="0" y="0"/>
                </a:moveTo>
                <a:lnTo>
                  <a:pt x="3071030" y="0"/>
                </a:lnTo>
                <a:lnTo>
                  <a:pt x="3071030" y="5804352"/>
                </a:lnTo>
                <a:lnTo>
                  <a:pt x="0" y="5804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5353586" y="2179353"/>
            <a:ext cx="8121052" cy="809413"/>
          </a:xfrm>
          <a:prstGeom prst="rect">
            <a:avLst/>
          </a:prstGeom>
        </p:spPr>
        <p:txBody>
          <a:bodyPr anchor="t" rtlCol="false" tIns="0" lIns="0" bIns="0" rIns="0">
            <a:spAutoFit/>
          </a:bodyPr>
          <a:lstStyle/>
          <a:p>
            <a:pPr algn="ctr">
              <a:lnSpc>
                <a:spcPts val="6466"/>
              </a:lnSpc>
            </a:pPr>
            <a:r>
              <a:rPr lang="en-US" b="true" sz="5199">
                <a:solidFill>
                  <a:srgbClr val="0C3571"/>
                </a:solidFill>
                <a:latin typeface="Anantason Bold"/>
                <a:ea typeface="Anantason Bold"/>
                <a:cs typeface="Anantason Bold"/>
                <a:sym typeface="Anantason Bold"/>
              </a:rPr>
              <a:t>Data Preparation Process</a:t>
            </a:r>
          </a:p>
        </p:txBody>
      </p:sp>
      <p:sp>
        <p:nvSpPr>
          <p:cNvPr name="TextBox 9" id="9"/>
          <p:cNvSpPr txBox="true"/>
          <p:nvPr/>
        </p:nvSpPr>
        <p:spPr>
          <a:xfrm rot="0">
            <a:off x="1276645" y="3374293"/>
            <a:ext cx="494721" cy="384175"/>
          </a:xfrm>
          <a:prstGeom prst="rect">
            <a:avLst/>
          </a:prstGeom>
        </p:spPr>
        <p:txBody>
          <a:bodyPr anchor="t" rtlCol="false" tIns="0" lIns="0" bIns="0" rIns="0">
            <a:spAutoFit/>
          </a:bodyPr>
          <a:lstStyle/>
          <a:p>
            <a:pPr algn="l">
              <a:lnSpc>
                <a:spcPts val="3125"/>
              </a:lnSpc>
            </a:pPr>
            <a:r>
              <a:rPr lang="en-US" sz="1937">
                <a:solidFill>
                  <a:srgbClr val="0C3571"/>
                </a:solidFill>
                <a:latin typeface="Cloud"/>
                <a:ea typeface="Cloud"/>
                <a:cs typeface="Cloud"/>
                <a:sym typeface="Cloud"/>
              </a:rPr>
              <a:t>01</a:t>
            </a:r>
          </a:p>
        </p:txBody>
      </p:sp>
      <p:sp>
        <p:nvSpPr>
          <p:cNvPr name="TextBox 10" id="10"/>
          <p:cNvSpPr txBox="true"/>
          <p:nvPr/>
        </p:nvSpPr>
        <p:spPr>
          <a:xfrm rot="0">
            <a:off x="1276645" y="3857687"/>
            <a:ext cx="2014926" cy="381000"/>
          </a:xfrm>
          <a:prstGeom prst="rect">
            <a:avLst/>
          </a:prstGeom>
        </p:spPr>
        <p:txBody>
          <a:bodyPr anchor="t" rtlCol="false" tIns="0" lIns="0" bIns="0" rIns="0">
            <a:spAutoFit/>
          </a:bodyPr>
          <a:lstStyle/>
          <a:p>
            <a:pPr algn="l">
              <a:lnSpc>
                <a:spcPts val="2999"/>
              </a:lnSpc>
            </a:pPr>
            <a:r>
              <a:rPr lang="en-US" sz="2437">
                <a:solidFill>
                  <a:srgbClr val="0C3571"/>
                </a:solidFill>
                <a:latin typeface="Cloud"/>
                <a:ea typeface="Cloud"/>
                <a:cs typeface="Cloud"/>
                <a:sym typeface="Cloud"/>
              </a:rPr>
              <a:t>Data Loading</a:t>
            </a:r>
          </a:p>
        </p:txBody>
      </p:sp>
      <p:sp>
        <p:nvSpPr>
          <p:cNvPr name="TextBox 11" id="11"/>
          <p:cNvSpPr txBox="true"/>
          <p:nvPr/>
        </p:nvSpPr>
        <p:spPr>
          <a:xfrm rot="0">
            <a:off x="1276645" y="4318011"/>
            <a:ext cx="5269116" cy="1165225"/>
          </a:xfrm>
          <a:prstGeom prst="rect">
            <a:avLst/>
          </a:prstGeom>
        </p:spPr>
        <p:txBody>
          <a:bodyPr anchor="t" rtlCol="false" tIns="0" lIns="0" bIns="0" rIns="0">
            <a:spAutoFit/>
          </a:bodyPr>
          <a:lstStyle/>
          <a:p>
            <a:pPr algn="l">
              <a:lnSpc>
                <a:spcPts val="3125"/>
              </a:lnSpc>
            </a:pPr>
            <a:r>
              <a:rPr lang="en-US" sz="1937">
                <a:solidFill>
                  <a:srgbClr val="0C3571"/>
                </a:solidFill>
                <a:latin typeface="Cloud"/>
                <a:ea typeface="Cloud"/>
                <a:cs typeface="Cloud"/>
                <a:sym typeface="Cloud"/>
              </a:rPr>
              <a:t>Imported  dataset using pandas library, establishing the analytical foundation for customer exploration.</a:t>
            </a:r>
          </a:p>
        </p:txBody>
      </p:sp>
      <p:sp>
        <p:nvSpPr>
          <p:cNvPr name="TextBox 12" id="12"/>
          <p:cNvSpPr txBox="true"/>
          <p:nvPr/>
        </p:nvSpPr>
        <p:spPr>
          <a:xfrm rot="0">
            <a:off x="6545761" y="3374293"/>
            <a:ext cx="369345" cy="384175"/>
          </a:xfrm>
          <a:prstGeom prst="rect">
            <a:avLst/>
          </a:prstGeom>
        </p:spPr>
        <p:txBody>
          <a:bodyPr anchor="t" rtlCol="false" tIns="0" lIns="0" bIns="0" rIns="0">
            <a:spAutoFit/>
          </a:bodyPr>
          <a:lstStyle/>
          <a:p>
            <a:pPr algn="l">
              <a:lnSpc>
                <a:spcPts val="3125"/>
              </a:lnSpc>
            </a:pPr>
            <a:r>
              <a:rPr lang="en-US" sz="1937">
                <a:solidFill>
                  <a:srgbClr val="0C3571"/>
                </a:solidFill>
                <a:latin typeface="Cloud"/>
                <a:ea typeface="Cloud"/>
                <a:cs typeface="Cloud"/>
                <a:sym typeface="Cloud"/>
              </a:rPr>
              <a:t>02</a:t>
            </a:r>
          </a:p>
        </p:txBody>
      </p:sp>
      <p:sp>
        <p:nvSpPr>
          <p:cNvPr name="TextBox 13" id="13"/>
          <p:cNvSpPr txBox="true"/>
          <p:nvPr/>
        </p:nvSpPr>
        <p:spPr>
          <a:xfrm rot="0">
            <a:off x="6545761" y="3857687"/>
            <a:ext cx="2747484" cy="381000"/>
          </a:xfrm>
          <a:prstGeom prst="rect">
            <a:avLst/>
          </a:prstGeom>
        </p:spPr>
        <p:txBody>
          <a:bodyPr anchor="t" rtlCol="false" tIns="0" lIns="0" bIns="0" rIns="0">
            <a:spAutoFit/>
          </a:bodyPr>
          <a:lstStyle/>
          <a:p>
            <a:pPr algn="l">
              <a:lnSpc>
                <a:spcPts val="2999"/>
              </a:lnSpc>
            </a:pPr>
            <a:r>
              <a:rPr lang="en-US" sz="2437">
                <a:solidFill>
                  <a:srgbClr val="0C3571"/>
                </a:solidFill>
                <a:latin typeface="Cloud"/>
                <a:ea typeface="Cloud"/>
                <a:cs typeface="Cloud"/>
                <a:sym typeface="Cloud"/>
              </a:rPr>
              <a:t>Initial Exploration</a:t>
            </a:r>
          </a:p>
        </p:txBody>
      </p:sp>
      <p:sp>
        <p:nvSpPr>
          <p:cNvPr name="TextBox 14" id="14"/>
          <p:cNvSpPr txBox="true"/>
          <p:nvPr/>
        </p:nvSpPr>
        <p:spPr>
          <a:xfrm rot="0">
            <a:off x="6545761" y="4318011"/>
            <a:ext cx="5269259" cy="1165225"/>
          </a:xfrm>
          <a:prstGeom prst="rect">
            <a:avLst/>
          </a:prstGeom>
        </p:spPr>
        <p:txBody>
          <a:bodyPr anchor="t" rtlCol="false" tIns="0" lIns="0" bIns="0" rIns="0">
            <a:spAutoFit/>
          </a:bodyPr>
          <a:lstStyle/>
          <a:p>
            <a:pPr algn="l">
              <a:lnSpc>
                <a:spcPts val="3125"/>
              </a:lnSpc>
            </a:pPr>
            <a:r>
              <a:rPr lang="en-US" sz="1937">
                <a:solidFill>
                  <a:srgbClr val="0C3571"/>
                </a:solidFill>
                <a:latin typeface="Cloud"/>
                <a:ea typeface="Cloud"/>
                <a:cs typeface="Cloud"/>
                <a:sym typeface="Cloud"/>
              </a:rPr>
              <a:t>Conducted through structure checks and generated summary statistics to understand data distribution and identify patterns.</a:t>
            </a:r>
          </a:p>
        </p:txBody>
      </p:sp>
      <p:sp>
        <p:nvSpPr>
          <p:cNvPr name="TextBox 15" id="15"/>
          <p:cNvSpPr txBox="true"/>
          <p:nvPr/>
        </p:nvSpPr>
        <p:spPr>
          <a:xfrm rot="0">
            <a:off x="12005815" y="3374293"/>
            <a:ext cx="403878" cy="384175"/>
          </a:xfrm>
          <a:prstGeom prst="rect">
            <a:avLst/>
          </a:prstGeom>
        </p:spPr>
        <p:txBody>
          <a:bodyPr anchor="t" rtlCol="false" tIns="0" lIns="0" bIns="0" rIns="0">
            <a:spAutoFit/>
          </a:bodyPr>
          <a:lstStyle/>
          <a:p>
            <a:pPr algn="l">
              <a:lnSpc>
                <a:spcPts val="3125"/>
              </a:lnSpc>
            </a:pPr>
            <a:r>
              <a:rPr lang="en-US" sz="1937">
                <a:solidFill>
                  <a:srgbClr val="0C3571"/>
                </a:solidFill>
                <a:latin typeface="Cloud"/>
                <a:ea typeface="Cloud"/>
                <a:cs typeface="Cloud"/>
                <a:sym typeface="Cloud"/>
              </a:rPr>
              <a:t>03</a:t>
            </a:r>
          </a:p>
        </p:txBody>
      </p:sp>
      <p:sp>
        <p:nvSpPr>
          <p:cNvPr name="TextBox 16" id="16"/>
          <p:cNvSpPr txBox="true"/>
          <p:nvPr/>
        </p:nvSpPr>
        <p:spPr>
          <a:xfrm rot="0">
            <a:off x="12005815" y="3857687"/>
            <a:ext cx="3448498" cy="381000"/>
          </a:xfrm>
          <a:prstGeom prst="rect">
            <a:avLst/>
          </a:prstGeom>
        </p:spPr>
        <p:txBody>
          <a:bodyPr anchor="t" rtlCol="false" tIns="0" lIns="0" bIns="0" rIns="0">
            <a:spAutoFit/>
          </a:bodyPr>
          <a:lstStyle/>
          <a:p>
            <a:pPr algn="l">
              <a:lnSpc>
                <a:spcPts val="2999"/>
              </a:lnSpc>
            </a:pPr>
            <a:r>
              <a:rPr lang="en-US" sz="2437">
                <a:solidFill>
                  <a:srgbClr val="0C3571"/>
                </a:solidFill>
                <a:latin typeface="Cloud"/>
                <a:ea typeface="Cloud"/>
                <a:cs typeface="Cloud"/>
                <a:sym typeface="Cloud"/>
              </a:rPr>
              <a:t>Missing Data Handling</a:t>
            </a:r>
          </a:p>
        </p:txBody>
      </p:sp>
      <p:sp>
        <p:nvSpPr>
          <p:cNvPr name="TextBox 17" id="17"/>
          <p:cNvSpPr txBox="true"/>
          <p:nvPr/>
        </p:nvSpPr>
        <p:spPr>
          <a:xfrm rot="0">
            <a:off x="12005815" y="4318011"/>
            <a:ext cx="5269116" cy="1165225"/>
          </a:xfrm>
          <a:prstGeom prst="rect">
            <a:avLst/>
          </a:prstGeom>
        </p:spPr>
        <p:txBody>
          <a:bodyPr anchor="t" rtlCol="false" tIns="0" lIns="0" bIns="0" rIns="0">
            <a:spAutoFit/>
          </a:bodyPr>
          <a:lstStyle/>
          <a:p>
            <a:pPr algn="l">
              <a:lnSpc>
                <a:spcPts val="3125"/>
              </a:lnSpc>
            </a:pPr>
            <a:r>
              <a:rPr lang="en-US" sz="1937">
                <a:solidFill>
                  <a:srgbClr val="0C3571"/>
                </a:solidFill>
                <a:latin typeface="Cloud"/>
                <a:ea typeface="Cloud"/>
                <a:cs typeface="Cloud"/>
                <a:sym typeface="Cloud"/>
              </a:rPr>
              <a:t>Applied  imputation technique to Review Rating column, preserving data integrity while maintaining categorical &amp; statistical validity.</a:t>
            </a:r>
          </a:p>
        </p:txBody>
      </p:sp>
      <p:sp>
        <p:nvSpPr>
          <p:cNvPr name="TextBox 18" id="18"/>
          <p:cNvSpPr txBox="true"/>
          <p:nvPr/>
        </p:nvSpPr>
        <p:spPr>
          <a:xfrm rot="0">
            <a:off x="1276645" y="5820442"/>
            <a:ext cx="494721" cy="384175"/>
          </a:xfrm>
          <a:prstGeom prst="rect">
            <a:avLst/>
          </a:prstGeom>
        </p:spPr>
        <p:txBody>
          <a:bodyPr anchor="t" rtlCol="false" tIns="0" lIns="0" bIns="0" rIns="0">
            <a:spAutoFit/>
          </a:bodyPr>
          <a:lstStyle/>
          <a:p>
            <a:pPr algn="l">
              <a:lnSpc>
                <a:spcPts val="3125"/>
              </a:lnSpc>
            </a:pPr>
            <a:r>
              <a:rPr lang="en-US" sz="1937">
                <a:solidFill>
                  <a:srgbClr val="0C3571"/>
                </a:solidFill>
                <a:latin typeface="Cloud"/>
                <a:ea typeface="Cloud"/>
                <a:cs typeface="Cloud"/>
                <a:sym typeface="Cloud"/>
              </a:rPr>
              <a:t>04</a:t>
            </a:r>
          </a:p>
        </p:txBody>
      </p:sp>
      <p:sp>
        <p:nvSpPr>
          <p:cNvPr name="Freeform 19" id="19" descr="preencoded.png"/>
          <p:cNvSpPr/>
          <p:nvPr/>
        </p:nvSpPr>
        <p:spPr>
          <a:xfrm flipH="false" flipV="false" rot="0">
            <a:off x="1028700" y="6573055"/>
            <a:ext cx="16303381" cy="28575"/>
          </a:xfrm>
          <a:custGeom>
            <a:avLst/>
            <a:gdLst/>
            <a:ahLst/>
            <a:cxnLst/>
            <a:rect r="r" b="b" t="t" l="l"/>
            <a:pathLst>
              <a:path h="28575" w="16303381">
                <a:moveTo>
                  <a:pt x="0" y="0"/>
                </a:moveTo>
                <a:lnTo>
                  <a:pt x="16303381" y="0"/>
                </a:lnTo>
                <a:lnTo>
                  <a:pt x="16303381" y="28575"/>
                </a:lnTo>
                <a:lnTo>
                  <a:pt x="0" y="28575"/>
                </a:lnTo>
                <a:lnTo>
                  <a:pt x="0" y="0"/>
                </a:lnTo>
                <a:close/>
              </a:path>
            </a:pathLst>
          </a:custGeom>
          <a:blipFill>
            <a:blip r:embed="rId8"/>
            <a:stretch>
              <a:fillRect l="-10" t="0" r="-10" b="0"/>
            </a:stretch>
          </a:blipFill>
        </p:spPr>
      </p:sp>
      <p:sp>
        <p:nvSpPr>
          <p:cNvPr name="TextBox 20" id="20"/>
          <p:cNvSpPr txBox="true"/>
          <p:nvPr/>
        </p:nvSpPr>
        <p:spPr>
          <a:xfrm rot="0">
            <a:off x="1276645" y="6270009"/>
            <a:ext cx="3297169" cy="381000"/>
          </a:xfrm>
          <a:prstGeom prst="rect">
            <a:avLst/>
          </a:prstGeom>
        </p:spPr>
        <p:txBody>
          <a:bodyPr anchor="t" rtlCol="false" tIns="0" lIns="0" bIns="0" rIns="0">
            <a:spAutoFit/>
          </a:bodyPr>
          <a:lstStyle/>
          <a:p>
            <a:pPr algn="l">
              <a:lnSpc>
                <a:spcPts val="2999"/>
              </a:lnSpc>
            </a:pPr>
            <a:r>
              <a:rPr lang="en-US" sz="2437">
                <a:solidFill>
                  <a:srgbClr val="0C3571"/>
                </a:solidFill>
                <a:latin typeface="Cloud"/>
                <a:ea typeface="Cloud"/>
                <a:cs typeface="Cloud"/>
                <a:sym typeface="Cloud"/>
              </a:rPr>
              <a:t>Database Integration</a:t>
            </a:r>
          </a:p>
        </p:txBody>
      </p:sp>
      <p:sp>
        <p:nvSpPr>
          <p:cNvPr name="TextBox 21" id="21"/>
          <p:cNvSpPr txBox="true"/>
          <p:nvPr/>
        </p:nvSpPr>
        <p:spPr>
          <a:xfrm rot="0">
            <a:off x="1276645" y="6730333"/>
            <a:ext cx="11649342" cy="384175"/>
          </a:xfrm>
          <a:prstGeom prst="rect">
            <a:avLst/>
          </a:prstGeom>
        </p:spPr>
        <p:txBody>
          <a:bodyPr anchor="t" rtlCol="false" tIns="0" lIns="0" bIns="0" rIns="0">
            <a:spAutoFit/>
          </a:bodyPr>
          <a:lstStyle/>
          <a:p>
            <a:pPr algn="l">
              <a:lnSpc>
                <a:spcPts val="3125"/>
              </a:lnSpc>
            </a:pPr>
            <a:r>
              <a:rPr lang="en-US" sz="1937">
                <a:solidFill>
                  <a:srgbClr val="0C3571"/>
                </a:solidFill>
                <a:latin typeface="Cloud"/>
                <a:ea typeface="Cloud"/>
                <a:cs typeface="Cloud"/>
                <a:sym typeface="Cloud"/>
              </a:rPr>
              <a:t>Connected dataset to MySQL environment for scalable querying and advanced analytical capabilities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9F2F7"/>
        </a:solidFill>
      </p:bgPr>
    </p:bg>
    <p:spTree>
      <p:nvGrpSpPr>
        <p:cNvPr id="1" name=""/>
        <p:cNvGrpSpPr/>
        <p:nvPr/>
      </p:nvGrpSpPr>
      <p:grpSpPr>
        <a:xfrm>
          <a:off x="0" y="0"/>
          <a:ext cx="0" cy="0"/>
          <a:chOff x="0" y="0"/>
          <a:chExt cx="0" cy="0"/>
        </a:xfrm>
      </p:grpSpPr>
      <p:sp>
        <p:nvSpPr>
          <p:cNvPr name="Freeform 2" id="2"/>
          <p:cNvSpPr/>
          <p:nvPr/>
        </p:nvSpPr>
        <p:spPr>
          <a:xfrm flipH="false" flipV="false" rot="0">
            <a:off x="-624614" y="6515100"/>
            <a:ext cx="7059478" cy="4114800"/>
          </a:xfrm>
          <a:custGeom>
            <a:avLst/>
            <a:gdLst/>
            <a:ahLst/>
            <a:cxnLst/>
            <a:rect r="r" b="b" t="t" l="l"/>
            <a:pathLst>
              <a:path h="4114800" w="7059478">
                <a:moveTo>
                  <a:pt x="0" y="0"/>
                </a:moveTo>
                <a:lnTo>
                  <a:pt x="7059478" y="0"/>
                </a:lnTo>
                <a:lnTo>
                  <a:pt x="705947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1924574" y="-357188"/>
            <a:ext cx="7059478" cy="4114800"/>
          </a:xfrm>
          <a:custGeom>
            <a:avLst/>
            <a:gdLst/>
            <a:ahLst/>
            <a:cxnLst/>
            <a:rect r="r" b="b" t="t" l="l"/>
            <a:pathLst>
              <a:path h="4114800" w="7059478">
                <a:moveTo>
                  <a:pt x="7059477" y="4114800"/>
                </a:moveTo>
                <a:lnTo>
                  <a:pt x="0" y="4114800"/>
                </a:lnTo>
                <a:lnTo>
                  <a:pt x="0" y="0"/>
                </a:lnTo>
                <a:lnTo>
                  <a:pt x="7059477" y="0"/>
                </a:lnTo>
                <a:lnTo>
                  <a:pt x="7059477"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002168">
            <a:off x="-1222246" y="-3356253"/>
            <a:ext cx="5987226" cy="5998131"/>
          </a:xfrm>
          <a:custGeom>
            <a:avLst/>
            <a:gdLst/>
            <a:ahLst/>
            <a:cxnLst/>
            <a:rect r="r" b="b" t="t" l="l"/>
            <a:pathLst>
              <a:path h="5998131" w="5987226">
                <a:moveTo>
                  <a:pt x="0" y="0"/>
                </a:moveTo>
                <a:lnTo>
                  <a:pt x="5987225" y="0"/>
                </a:lnTo>
                <a:lnTo>
                  <a:pt x="5987225" y="5998131"/>
                </a:lnTo>
                <a:lnTo>
                  <a:pt x="0" y="59981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002168">
            <a:off x="14265687" y="7630834"/>
            <a:ext cx="5987226" cy="5998131"/>
          </a:xfrm>
          <a:custGeom>
            <a:avLst/>
            <a:gdLst/>
            <a:ahLst/>
            <a:cxnLst/>
            <a:rect r="r" b="b" t="t" l="l"/>
            <a:pathLst>
              <a:path h="5998131" w="5987226">
                <a:moveTo>
                  <a:pt x="5987226" y="5998132"/>
                </a:moveTo>
                <a:lnTo>
                  <a:pt x="0" y="5998132"/>
                </a:lnTo>
                <a:lnTo>
                  <a:pt x="0" y="0"/>
                </a:lnTo>
                <a:lnTo>
                  <a:pt x="5987226" y="0"/>
                </a:lnTo>
                <a:lnTo>
                  <a:pt x="5987226" y="599813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7488824">
            <a:off x="-221065" y="7727724"/>
            <a:ext cx="3071030" cy="5804353"/>
          </a:xfrm>
          <a:custGeom>
            <a:avLst/>
            <a:gdLst/>
            <a:ahLst/>
            <a:cxnLst/>
            <a:rect r="r" b="b" t="t" l="l"/>
            <a:pathLst>
              <a:path h="5804353" w="3071030">
                <a:moveTo>
                  <a:pt x="0" y="0"/>
                </a:moveTo>
                <a:lnTo>
                  <a:pt x="3071030" y="0"/>
                </a:lnTo>
                <a:lnTo>
                  <a:pt x="3071030" y="5804352"/>
                </a:lnTo>
                <a:lnTo>
                  <a:pt x="0" y="5804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7488824">
            <a:off x="17178162" y="-1873476"/>
            <a:ext cx="3071030" cy="5804353"/>
          </a:xfrm>
          <a:custGeom>
            <a:avLst/>
            <a:gdLst/>
            <a:ahLst/>
            <a:cxnLst/>
            <a:rect r="r" b="b" t="t" l="l"/>
            <a:pathLst>
              <a:path h="5804353" w="3071030">
                <a:moveTo>
                  <a:pt x="0" y="0"/>
                </a:moveTo>
                <a:lnTo>
                  <a:pt x="3071030" y="0"/>
                </a:lnTo>
                <a:lnTo>
                  <a:pt x="3071030" y="5804352"/>
                </a:lnTo>
                <a:lnTo>
                  <a:pt x="0" y="5804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8" id="8"/>
          <p:cNvSpPr/>
          <p:nvPr/>
        </p:nvSpPr>
        <p:spPr>
          <a:xfrm flipH="true">
            <a:off x="6691186" y="6886863"/>
            <a:ext cx="365820" cy="0"/>
          </a:xfrm>
          <a:prstGeom prst="line">
            <a:avLst/>
          </a:prstGeom>
          <a:ln cap="flat" w="19050">
            <a:solidFill>
              <a:srgbClr val="000000"/>
            </a:solidFill>
            <a:prstDash val="solid"/>
            <a:headEnd type="none" len="sm" w="sm"/>
            <a:tailEnd type="none" len="sm" w="sm"/>
          </a:ln>
        </p:spPr>
      </p:sp>
      <p:sp>
        <p:nvSpPr>
          <p:cNvPr name="AutoShape 9" id="9"/>
          <p:cNvSpPr/>
          <p:nvPr/>
        </p:nvSpPr>
        <p:spPr>
          <a:xfrm flipH="true">
            <a:off x="2493675" y="4025431"/>
            <a:ext cx="861896" cy="0"/>
          </a:xfrm>
          <a:prstGeom prst="line">
            <a:avLst/>
          </a:prstGeom>
          <a:ln cap="flat" w="19050">
            <a:solidFill>
              <a:srgbClr val="000000"/>
            </a:solidFill>
            <a:prstDash val="solid"/>
            <a:headEnd type="none" len="sm" w="sm"/>
            <a:tailEnd type="none" len="sm" w="sm"/>
          </a:ln>
        </p:spPr>
      </p:sp>
      <p:sp>
        <p:nvSpPr>
          <p:cNvPr name="Freeform 10" id="10"/>
          <p:cNvSpPr/>
          <p:nvPr/>
        </p:nvSpPr>
        <p:spPr>
          <a:xfrm flipH="false" flipV="false" rot="0">
            <a:off x="2287283" y="2532168"/>
            <a:ext cx="6100890" cy="4788811"/>
          </a:xfrm>
          <a:custGeom>
            <a:avLst/>
            <a:gdLst/>
            <a:ahLst/>
            <a:cxnLst/>
            <a:rect r="r" b="b" t="t" l="l"/>
            <a:pathLst>
              <a:path h="4788811" w="6100890">
                <a:moveTo>
                  <a:pt x="0" y="0"/>
                </a:moveTo>
                <a:lnTo>
                  <a:pt x="6100890" y="0"/>
                </a:lnTo>
                <a:lnTo>
                  <a:pt x="6100890" y="4788810"/>
                </a:lnTo>
                <a:lnTo>
                  <a:pt x="0" y="4788810"/>
                </a:lnTo>
                <a:lnTo>
                  <a:pt x="0" y="0"/>
                </a:lnTo>
                <a:close/>
              </a:path>
            </a:pathLst>
          </a:custGeom>
          <a:blipFill>
            <a:blip r:embed="rId8"/>
            <a:stretch>
              <a:fillRect l="-13648" t="-12376" r="-40078" b="-18106"/>
            </a:stretch>
          </a:blipFill>
        </p:spPr>
      </p:sp>
      <p:grpSp>
        <p:nvGrpSpPr>
          <p:cNvPr name="Group 11" id="11"/>
          <p:cNvGrpSpPr/>
          <p:nvPr/>
        </p:nvGrpSpPr>
        <p:grpSpPr>
          <a:xfrm rot="0">
            <a:off x="1695579" y="1932724"/>
            <a:ext cx="2736125" cy="902553"/>
            <a:chOff x="0" y="0"/>
            <a:chExt cx="671824" cy="221612"/>
          </a:xfrm>
        </p:grpSpPr>
        <p:sp>
          <p:nvSpPr>
            <p:cNvPr name="Freeform 12" id="12"/>
            <p:cNvSpPr/>
            <p:nvPr/>
          </p:nvSpPr>
          <p:spPr>
            <a:xfrm flipH="false" flipV="false" rot="0">
              <a:off x="0" y="0"/>
              <a:ext cx="671824" cy="221612"/>
            </a:xfrm>
            <a:custGeom>
              <a:avLst/>
              <a:gdLst/>
              <a:ahLst/>
              <a:cxnLst/>
              <a:rect r="r" b="b" t="t" l="l"/>
              <a:pathLst>
                <a:path h="221612" w="671824">
                  <a:moveTo>
                    <a:pt x="0" y="0"/>
                  </a:moveTo>
                  <a:lnTo>
                    <a:pt x="671824" y="0"/>
                  </a:lnTo>
                  <a:lnTo>
                    <a:pt x="671824" y="221612"/>
                  </a:lnTo>
                  <a:lnTo>
                    <a:pt x="0" y="221612"/>
                  </a:lnTo>
                  <a:close/>
                </a:path>
              </a:pathLst>
            </a:custGeom>
            <a:solidFill>
              <a:srgbClr val="E9F2F7"/>
            </a:solidFill>
          </p:spPr>
        </p:sp>
        <p:sp>
          <p:nvSpPr>
            <p:cNvPr name="TextBox 13" id="13"/>
            <p:cNvSpPr txBox="true"/>
            <p:nvPr/>
          </p:nvSpPr>
          <p:spPr>
            <a:xfrm>
              <a:off x="0" y="-95250"/>
              <a:ext cx="671824" cy="316862"/>
            </a:xfrm>
            <a:prstGeom prst="rect">
              <a:avLst/>
            </a:prstGeom>
          </p:spPr>
          <p:txBody>
            <a:bodyPr anchor="ctr" rtlCol="false" tIns="54490" lIns="54490" bIns="54490" rIns="54490"/>
            <a:lstStyle/>
            <a:p>
              <a:pPr algn="ctr">
                <a:lnSpc>
                  <a:spcPts val="3124"/>
                </a:lnSpc>
              </a:pPr>
            </a:p>
          </p:txBody>
        </p:sp>
      </p:grpSp>
      <p:sp>
        <p:nvSpPr>
          <p:cNvPr name="TextBox 14" id="14"/>
          <p:cNvSpPr txBox="true"/>
          <p:nvPr/>
        </p:nvSpPr>
        <p:spPr>
          <a:xfrm rot="0">
            <a:off x="1771366" y="3094689"/>
            <a:ext cx="1713447" cy="365405"/>
          </a:xfrm>
          <a:prstGeom prst="rect">
            <a:avLst/>
          </a:prstGeom>
        </p:spPr>
        <p:txBody>
          <a:bodyPr anchor="t" rtlCol="false" tIns="0" lIns="0" bIns="0" rIns="0">
            <a:spAutoFit/>
          </a:bodyPr>
          <a:lstStyle/>
          <a:p>
            <a:pPr algn="ctr">
              <a:lnSpc>
                <a:spcPts val="3149"/>
              </a:lnSpc>
            </a:pPr>
            <a:r>
              <a:rPr lang="en-US" sz="1959">
                <a:solidFill>
                  <a:srgbClr val="0C3571"/>
                </a:solidFill>
                <a:latin typeface="Cloud"/>
                <a:ea typeface="Cloud"/>
                <a:cs typeface="Cloud"/>
                <a:sym typeface="Cloud"/>
              </a:rPr>
              <a:t>75K (32.26%)</a:t>
            </a:r>
          </a:p>
        </p:txBody>
      </p:sp>
      <p:sp>
        <p:nvSpPr>
          <p:cNvPr name="TextBox 15" id="15"/>
          <p:cNvSpPr txBox="true"/>
          <p:nvPr/>
        </p:nvSpPr>
        <p:spPr>
          <a:xfrm rot="0">
            <a:off x="6125440" y="7370794"/>
            <a:ext cx="1851581" cy="365405"/>
          </a:xfrm>
          <a:prstGeom prst="rect">
            <a:avLst/>
          </a:prstGeom>
        </p:spPr>
        <p:txBody>
          <a:bodyPr anchor="t" rtlCol="false" tIns="0" lIns="0" bIns="0" rIns="0">
            <a:spAutoFit/>
          </a:bodyPr>
          <a:lstStyle/>
          <a:p>
            <a:pPr algn="ctr">
              <a:lnSpc>
                <a:spcPts val="3149"/>
              </a:lnSpc>
            </a:pPr>
            <a:r>
              <a:rPr lang="en-US" sz="1959">
                <a:solidFill>
                  <a:srgbClr val="0C3571"/>
                </a:solidFill>
                <a:latin typeface="Cloud"/>
                <a:ea typeface="Cloud"/>
                <a:cs typeface="Cloud"/>
                <a:sym typeface="Cloud"/>
              </a:rPr>
              <a:t>158K (67.74%)</a:t>
            </a:r>
          </a:p>
        </p:txBody>
      </p:sp>
      <p:sp>
        <p:nvSpPr>
          <p:cNvPr name="AutoShape 16" id="16"/>
          <p:cNvSpPr/>
          <p:nvPr/>
        </p:nvSpPr>
        <p:spPr>
          <a:xfrm flipV="true">
            <a:off x="2503892" y="3511737"/>
            <a:ext cx="0" cy="513694"/>
          </a:xfrm>
          <a:prstGeom prst="line">
            <a:avLst/>
          </a:prstGeom>
          <a:ln cap="flat" w="19050">
            <a:solidFill>
              <a:srgbClr val="000000"/>
            </a:solidFill>
            <a:prstDash val="solid"/>
            <a:headEnd type="none" len="sm" w="sm"/>
            <a:tailEnd type="none" len="sm" w="sm"/>
          </a:ln>
        </p:spPr>
      </p:sp>
      <p:sp>
        <p:nvSpPr>
          <p:cNvPr name="AutoShape 17" id="17"/>
          <p:cNvSpPr/>
          <p:nvPr/>
        </p:nvSpPr>
        <p:spPr>
          <a:xfrm flipV="true">
            <a:off x="7057006" y="6876646"/>
            <a:ext cx="0" cy="513694"/>
          </a:xfrm>
          <a:prstGeom prst="line">
            <a:avLst/>
          </a:prstGeom>
          <a:ln cap="flat" w="19050">
            <a:solidFill>
              <a:srgbClr val="000000"/>
            </a:solidFill>
            <a:prstDash val="solid"/>
            <a:headEnd type="none" len="sm" w="sm"/>
            <a:tailEnd type="none" len="sm" w="sm"/>
          </a:ln>
        </p:spPr>
      </p:sp>
      <p:grpSp>
        <p:nvGrpSpPr>
          <p:cNvPr name="Group 18" id="18"/>
          <p:cNvGrpSpPr/>
          <p:nvPr/>
        </p:nvGrpSpPr>
        <p:grpSpPr>
          <a:xfrm rot="0">
            <a:off x="8244169" y="5122447"/>
            <a:ext cx="362588" cy="362588"/>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FA8E2"/>
            </a:solidFill>
          </p:spPr>
        </p:sp>
        <p:sp>
          <p:nvSpPr>
            <p:cNvPr name="TextBox 20" id="20"/>
            <p:cNvSpPr txBox="true"/>
            <p:nvPr/>
          </p:nvSpPr>
          <p:spPr>
            <a:xfrm>
              <a:off x="76200" y="-19050"/>
              <a:ext cx="660400" cy="755650"/>
            </a:xfrm>
            <a:prstGeom prst="rect">
              <a:avLst/>
            </a:prstGeom>
          </p:spPr>
          <p:txBody>
            <a:bodyPr anchor="ctr" rtlCol="false" tIns="58871" lIns="58871" bIns="58871" rIns="58871"/>
            <a:lstStyle/>
            <a:p>
              <a:pPr algn="ctr">
                <a:lnSpc>
                  <a:spcPts val="3124"/>
                </a:lnSpc>
              </a:pPr>
            </a:p>
          </p:txBody>
        </p:sp>
      </p:grpSp>
      <p:grpSp>
        <p:nvGrpSpPr>
          <p:cNvPr name="Group 21" id="21"/>
          <p:cNvGrpSpPr/>
          <p:nvPr/>
        </p:nvGrpSpPr>
        <p:grpSpPr>
          <a:xfrm rot="0">
            <a:off x="8244169" y="4514886"/>
            <a:ext cx="362588" cy="362588"/>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E74A6"/>
            </a:solidFill>
          </p:spPr>
        </p:sp>
        <p:sp>
          <p:nvSpPr>
            <p:cNvPr name="TextBox 23" id="23"/>
            <p:cNvSpPr txBox="true"/>
            <p:nvPr/>
          </p:nvSpPr>
          <p:spPr>
            <a:xfrm>
              <a:off x="76200" y="-19050"/>
              <a:ext cx="660400" cy="755650"/>
            </a:xfrm>
            <a:prstGeom prst="rect">
              <a:avLst/>
            </a:prstGeom>
          </p:spPr>
          <p:txBody>
            <a:bodyPr anchor="ctr" rtlCol="false" tIns="58871" lIns="58871" bIns="58871" rIns="58871"/>
            <a:lstStyle/>
            <a:p>
              <a:pPr algn="ctr">
                <a:lnSpc>
                  <a:spcPts val="3124"/>
                </a:lnSpc>
              </a:pPr>
            </a:p>
          </p:txBody>
        </p:sp>
      </p:grpSp>
      <p:sp>
        <p:nvSpPr>
          <p:cNvPr name="TextBox 24" id="24"/>
          <p:cNvSpPr txBox="true"/>
          <p:nvPr/>
        </p:nvSpPr>
        <p:spPr>
          <a:xfrm rot="0">
            <a:off x="8709888" y="4505376"/>
            <a:ext cx="776029" cy="372098"/>
          </a:xfrm>
          <a:prstGeom prst="rect">
            <a:avLst/>
          </a:prstGeom>
        </p:spPr>
        <p:txBody>
          <a:bodyPr anchor="t" rtlCol="false" tIns="0" lIns="0" bIns="0" rIns="0">
            <a:spAutoFit/>
          </a:bodyPr>
          <a:lstStyle/>
          <a:p>
            <a:pPr algn="l">
              <a:lnSpc>
                <a:spcPts val="2869"/>
              </a:lnSpc>
            </a:pPr>
            <a:r>
              <a:rPr lang="en-US" sz="2317">
                <a:solidFill>
                  <a:srgbClr val="0C3571"/>
                </a:solidFill>
                <a:latin typeface="Cloud"/>
                <a:ea typeface="Cloud"/>
                <a:cs typeface="Cloud"/>
                <a:sym typeface="Cloud"/>
              </a:rPr>
              <a:t>Male</a:t>
            </a:r>
          </a:p>
        </p:txBody>
      </p:sp>
      <p:sp>
        <p:nvSpPr>
          <p:cNvPr name="TextBox 25" id="25"/>
          <p:cNvSpPr txBox="true"/>
          <p:nvPr/>
        </p:nvSpPr>
        <p:spPr>
          <a:xfrm rot="0">
            <a:off x="8709888" y="5146357"/>
            <a:ext cx="1060407" cy="372098"/>
          </a:xfrm>
          <a:prstGeom prst="rect">
            <a:avLst/>
          </a:prstGeom>
        </p:spPr>
        <p:txBody>
          <a:bodyPr anchor="t" rtlCol="false" tIns="0" lIns="0" bIns="0" rIns="0">
            <a:spAutoFit/>
          </a:bodyPr>
          <a:lstStyle/>
          <a:p>
            <a:pPr algn="l">
              <a:lnSpc>
                <a:spcPts val="2869"/>
              </a:lnSpc>
            </a:pPr>
            <a:r>
              <a:rPr lang="en-US" sz="2317">
                <a:solidFill>
                  <a:srgbClr val="0C3571"/>
                </a:solidFill>
                <a:latin typeface="Cloud"/>
                <a:ea typeface="Cloud"/>
                <a:cs typeface="Cloud"/>
                <a:sym typeface="Cloud"/>
              </a:rPr>
              <a:t>Female</a:t>
            </a:r>
          </a:p>
        </p:txBody>
      </p:sp>
      <p:sp>
        <p:nvSpPr>
          <p:cNvPr name="TextBox 26" id="26"/>
          <p:cNvSpPr txBox="true"/>
          <p:nvPr/>
        </p:nvSpPr>
        <p:spPr>
          <a:xfrm rot="0">
            <a:off x="5419238" y="1275013"/>
            <a:ext cx="7449524" cy="690563"/>
          </a:xfrm>
          <a:prstGeom prst="rect">
            <a:avLst/>
          </a:prstGeom>
        </p:spPr>
        <p:txBody>
          <a:bodyPr anchor="t" rtlCol="false" tIns="0" lIns="0" bIns="0" rIns="0">
            <a:spAutoFit/>
          </a:bodyPr>
          <a:lstStyle/>
          <a:p>
            <a:pPr algn="l">
              <a:lnSpc>
                <a:spcPts val="5437"/>
              </a:lnSpc>
            </a:pPr>
            <a:r>
              <a:rPr lang="en-US" b="true" sz="4375">
                <a:solidFill>
                  <a:srgbClr val="0C3571"/>
                </a:solidFill>
                <a:latin typeface="Anantason Bold"/>
                <a:ea typeface="Anantason Bold"/>
                <a:cs typeface="Anantason Bold"/>
                <a:sym typeface="Anantason Bold"/>
              </a:rPr>
              <a:t>Revenue by Gender Analysis</a:t>
            </a:r>
          </a:p>
        </p:txBody>
      </p:sp>
      <p:sp>
        <p:nvSpPr>
          <p:cNvPr name="TextBox 27" id="27"/>
          <p:cNvSpPr txBox="true"/>
          <p:nvPr/>
        </p:nvSpPr>
        <p:spPr>
          <a:xfrm rot="0">
            <a:off x="1695579" y="7899920"/>
            <a:ext cx="8074715" cy="487777"/>
          </a:xfrm>
          <a:prstGeom prst="rect">
            <a:avLst/>
          </a:prstGeom>
        </p:spPr>
        <p:txBody>
          <a:bodyPr anchor="t" rtlCol="false" tIns="0" lIns="0" bIns="0" rIns="0">
            <a:spAutoFit/>
          </a:bodyPr>
          <a:lstStyle/>
          <a:p>
            <a:pPr algn="ctr">
              <a:lnSpc>
                <a:spcPts val="1989"/>
              </a:lnSpc>
            </a:pPr>
            <a:r>
              <a:rPr lang="en-US" sz="1421">
                <a:solidFill>
                  <a:srgbClr val="0C3571"/>
                </a:solidFill>
                <a:latin typeface="Cloud"/>
                <a:ea typeface="Cloud"/>
                <a:cs typeface="Cloud"/>
                <a:sym typeface="Cloud"/>
              </a:rPr>
              <a:t>The chart reveals that male customers generate marginally higher total revenue compared to female customers, suggesting potential opportunities for gender-specific marketing optimization.</a:t>
            </a:r>
          </a:p>
        </p:txBody>
      </p:sp>
      <p:sp>
        <p:nvSpPr>
          <p:cNvPr name="TextBox 28" id="28"/>
          <p:cNvSpPr txBox="true"/>
          <p:nvPr/>
        </p:nvSpPr>
        <p:spPr>
          <a:xfrm rot="0">
            <a:off x="10193032" y="3132789"/>
            <a:ext cx="2087133" cy="480302"/>
          </a:xfrm>
          <a:prstGeom prst="rect">
            <a:avLst/>
          </a:prstGeom>
        </p:spPr>
        <p:txBody>
          <a:bodyPr anchor="t" rtlCol="false" tIns="0" lIns="0" bIns="0" rIns="0">
            <a:spAutoFit/>
          </a:bodyPr>
          <a:lstStyle/>
          <a:p>
            <a:pPr algn="l">
              <a:lnSpc>
                <a:spcPts val="3621"/>
              </a:lnSpc>
            </a:pPr>
            <a:r>
              <a:rPr lang="en-US" sz="2924">
                <a:solidFill>
                  <a:srgbClr val="0C3571"/>
                </a:solidFill>
                <a:latin typeface="Cloud"/>
                <a:ea typeface="Cloud"/>
                <a:cs typeface="Cloud"/>
                <a:sym typeface="Cloud"/>
              </a:rPr>
              <a:t>Key Insight</a:t>
            </a:r>
          </a:p>
        </p:txBody>
      </p:sp>
      <p:sp>
        <p:nvSpPr>
          <p:cNvPr name="TextBox 29" id="29"/>
          <p:cNvSpPr txBox="true"/>
          <p:nvPr/>
        </p:nvSpPr>
        <p:spPr>
          <a:xfrm rot="0">
            <a:off x="10193032" y="3800204"/>
            <a:ext cx="6901999" cy="1133971"/>
          </a:xfrm>
          <a:prstGeom prst="rect">
            <a:avLst/>
          </a:prstGeom>
        </p:spPr>
        <p:txBody>
          <a:bodyPr anchor="t" rtlCol="false" tIns="0" lIns="0" bIns="0" rIns="0">
            <a:spAutoFit/>
          </a:bodyPr>
          <a:lstStyle/>
          <a:p>
            <a:pPr algn="l">
              <a:lnSpc>
                <a:spcPts val="3044"/>
              </a:lnSpc>
            </a:pPr>
            <a:r>
              <a:rPr lang="en-US" sz="1894">
                <a:solidFill>
                  <a:srgbClr val="0C3571"/>
                </a:solidFill>
                <a:latin typeface="Cloud"/>
                <a:ea typeface="Cloud"/>
                <a:cs typeface="Cloud"/>
                <a:sym typeface="Cloud"/>
              </a:rPr>
              <a:t>Male customers generate slightly higher total revenue than female customers, indicating stronger purchasing power or higher transaction frequency within this demographic segment.</a:t>
            </a:r>
          </a:p>
        </p:txBody>
      </p:sp>
      <p:sp>
        <p:nvSpPr>
          <p:cNvPr name="TextBox 30" id="30"/>
          <p:cNvSpPr txBox="true"/>
          <p:nvPr/>
        </p:nvSpPr>
        <p:spPr>
          <a:xfrm rot="0">
            <a:off x="10193032" y="5218016"/>
            <a:ext cx="6901999" cy="1898095"/>
          </a:xfrm>
          <a:prstGeom prst="rect">
            <a:avLst/>
          </a:prstGeom>
        </p:spPr>
        <p:txBody>
          <a:bodyPr anchor="t" rtlCol="false" tIns="0" lIns="0" bIns="0" rIns="0">
            <a:spAutoFit/>
          </a:bodyPr>
          <a:lstStyle/>
          <a:p>
            <a:pPr algn="l">
              <a:lnSpc>
                <a:spcPts val="3044"/>
              </a:lnSpc>
            </a:pPr>
            <a:r>
              <a:rPr lang="en-US" sz="1894">
                <a:solidFill>
                  <a:srgbClr val="0C3571"/>
                </a:solidFill>
                <a:latin typeface="Cloud"/>
                <a:ea typeface="Cloud"/>
                <a:cs typeface="Cloud"/>
                <a:sym typeface="Cloud"/>
              </a:rPr>
              <a:t>This gender distribution presents an opportunity to develop targeted marketing strategies that optimize revenue streams by tailoring product recommendations, promotional offers, and communication channels to each segment's preferences and behaviors.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9F2F7"/>
        </a:solidFill>
      </p:bgPr>
    </p:bg>
    <p:spTree>
      <p:nvGrpSpPr>
        <p:cNvPr id="1" name=""/>
        <p:cNvGrpSpPr/>
        <p:nvPr/>
      </p:nvGrpSpPr>
      <p:grpSpPr>
        <a:xfrm>
          <a:off x="0" y="0"/>
          <a:ext cx="0" cy="0"/>
          <a:chOff x="0" y="0"/>
          <a:chExt cx="0" cy="0"/>
        </a:xfrm>
      </p:grpSpPr>
      <p:grpSp>
        <p:nvGrpSpPr>
          <p:cNvPr name="Group 2" id="2"/>
          <p:cNvGrpSpPr/>
          <p:nvPr/>
        </p:nvGrpSpPr>
        <p:grpSpPr>
          <a:xfrm rot="0">
            <a:off x="743444" y="811346"/>
            <a:ext cx="7314706" cy="9167365"/>
            <a:chOff x="0" y="0"/>
            <a:chExt cx="812800" cy="1018665"/>
          </a:xfrm>
        </p:grpSpPr>
        <p:sp>
          <p:nvSpPr>
            <p:cNvPr name="Freeform 3" id="3"/>
            <p:cNvSpPr/>
            <p:nvPr/>
          </p:nvSpPr>
          <p:spPr>
            <a:xfrm flipH="false" flipV="false" rot="0">
              <a:off x="0" y="0"/>
              <a:ext cx="812800" cy="1018665"/>
            </a:xfrm>
            <a:custGeom>
              <a:avLst/>
              <a:gdLst/>
              <a:ahLst/>
              <a:cxnLst/>
              <a:rect r="r" b="b" t="t" l="l"/>
              <a:pathLst>
                <a:path h="1018665" w="812800">
                  <a:moveTo>
                    <a:pt x="24343" y="0"/>
                  </a:moveTo>
                  <a:lnTo>
                    <a:pt x="788457" y="0"/>
                  </a:lnTo>
                  <a:cubicBezTo>
                    <a:pt x="801901" y="0"/>
                    <a:pt x="812800" y="10899"/>
                    <a:pt x="812800" y="24343"/>
                  </a:cubicBezTo>
                  <a:lnTo>
                    <a:pt x="812800" y="994322"/>
                  </a:lnTo>
                  <a:cubicBezTo>
                    <a:pt x="812800" y="1000778"/>
                    <a:pt x="810235" y="1006970"/>
                    <a:pt x="805670" y="1011535"/>
                  </a:cubicBezTo>
                  <a:cubicBezTo>
                    <a:pt x="801105" y="1016100"/>
                    <a:pt x="794913" y="1018665"/>
                    <a:pt x="788457" y="1018665"/>
                  </a:cubicBezTo>
                  <a:lnTo>
                    <a:pt x="24343" y="1018665"/>
                  </a:lnTo>
                  <a:cubicBezTo>
                    <a:pt x="10899" y="1018665"/>
                    <a:pt x="0" y="1007766"/>
                    <a:pt x="0" y="994322"/>
                  </a:cubicBezTo>
                  <a:lnTo>
                    <a:pt x="0" y="24343"/>
                  </a:lnTo>
                  <a:cubicBezTo>
                    <a:pt x="0" y="10899"/>
                    <a:pt x="10899" y="0"/>
                    <a:pt x="24343" y="0"/>
                  </a:cubicBezTo>
                  <a:close/>
                </a:path>
              </a:pathLst>
            </a:custGeom>
            <a:blipFill>
              <a:blip r:embed="rId2"/>
              <a:stretch>
                <a:fillRect l="-61320" t="0" r="-5783" b="0"/>
              </a:stretch>
            </a:blipFill>
          </p:spPr>
        </p:sp>
      </p:grpSp>
      <p:sp>
        <p:nvSpPr>
          <p:cNvPr name="Freeform 4" id="4"/>
          <p:cNvSpPr/>
          <p:nvPr/>
        </p:nvSpPr>
        <p:spPr>
          <a:xfrm flipH="false" flipV="false" rot="0">
            <a:off x="-624614" y="6515100"/>
            <a:ext cx="7059478" cy="4114800"/>
          </a:xfrm>
          <a:custGeom>
            <a:avLst/>
            <a:gdLst/>
            <a:ahLst/>
            <a:cxnLst/>
            <a:rect r="r" b="b" t="t" l="l"/>
            <a:pathLst>
              <a:path h="4114800" w="7059478">
                <a:moveTo>
                  <a:pt x="0" y="0"/>
                </a:moveTo>
                <a:lnTo>
                  <a:pt x="7059478" y="0"/>
                </a:lnTo>
                <a:lnTo>
                  <a:pt x="705947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true" rot="0">
            <a:off x="11924574" y="-357188"/>
            <a:ext cx="7059478" cy="4114800"/>
          </a:xfrm>
          <a:custGeom>
            <a:avLst/>
            <a:gdLst/>
            <a:ahLst/>
            <a:cxnLst/>
            <a:rect r="r" b="b" t="t" l="l"/>
            <a:pathLst>
              <a:path h="4114800" w="7059478">
                <a:moveTo>
                  <a:pt x="7059477" y="4114800"/>
                </a:moveTo>
                <a:lnTo>
                  <a:pt x="0" y="4114800"/>
                </a:lnTo>
                <a:lnTo>
                  <a:pt x="0" y="0"/>
                </a:lnTo>
                <a:lnTo>
                  <a:pt x="7059477" y="0"/>
                </a:lnTo>
                <a:lnTo>
                  <a:pt x="7059477"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002168">
            <a:off x="-1204214" y="-3372311"/>
            <a:ext cx="5687554" cy="5697914"/>
          </a:xfrm>
          <a:custGeom>
            <a:avLst/>
            <a:gdLst/>
            <a:ahLst/>
            <a:cxnLst/>
            <a:rect r="r" b="b" t="t" l="l"/>
            <a:pathLst>
              <a:path h="5697914" w="5687554">
                <a:moveTo>
                  <a:pt x="0" y="0"/>
                </a:moveTo>
                <a:lnTo>
                  <a:pt x="5687554" y="0"/>
                </a:lnTo>
                <a:lnTo>
                  <a:pt x="5687554" y="5697914"/>
                </a:lnTo>
                <a:lnTo>
                  <a:pt x="0" y="56979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true" flipV="true" rot="-5002168">
            <a:off x="14265687" y="7630834"/>
            <a:ext cx="5987226" cy="5998131"/>
          </a:xfrm>
          <a:custGeom>
            <a:avLst/>
            <a:gdLst/>
            <a:ahLst/>
            <a:cxnLst/>
            <a:rect r="r" b="b" t="t" l="l"/>
            <a:pathLst>
              <a:path h="5998131" w="5987226">
                <a:moveTo>
                  <a:pt x="5987226" y="5998132"/>
                </a:moveTo>
                <a:lnTo>
                  <a:pt x="0" y="5998132"/>
                </a:lnTo>
                <a:lnTo>
                  <a:pt x="0" y="0"/>
                </a:lnTo>
                <a:lnTo>
                  <a:pt x="5987226" y="0"/>
                </a:lnTo>
                <a:lnTo>
                  <a:pt x="5987226" y="5998132"/>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7488824">
            <a:off x="-221065" y="7727724"/>
            <a:ext cx="3071030" cy="5804353"/>
          </a:xfrm>
          <a:custGeom>
            <a:avLst/>
            <a:gdLst/>
            <a:ahLst/>
            <a:cxnLst/>
            <a:rect r="r" b="b" t="t" l="l"/>
            <a:pathLst>
              <a:path h="5804353" w="3071030">
                <a:moveTo>
                  <a:pt x="0" y="0"/>
                </a:moveTo>
                <a:lnTo>
                  <a:pt x="3071030" y="0"/>
                </a:lnTo>
                <a:lnTo>
                  <a:pt x="3071030" y="5804352"/>
                </a:lnTo>
                <a:lnTo>
                  <a:pt x="0" y="58043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7488824">
            <a:off x="17178162" y="-1873476"/>
            <a:ext cx="3071030" cy="5804353"/>
          </a:xfrm>
          <a:custGeom>
            <a:avLst/>
            <a:gdLst/>
            <a:ahLst/>
            <a:cxnLst/>
            <a:rect r="r" b="b" t="t" l="l"/>
            <a:pathLst>
              <a:path h="5804353" w="3071030">
                <a:moveTo>
                  <a:pt x="0" y="0"/>
                </a:moveTo>
                <a:lnTo>
                  <a:pt x="3071030" y="0"/>
                </a:lnTo>
                <a:lnTo>
                  <a:pt x="3071030" y="5804352"/>
                </a:lnTo>
                <a:lnTo>
                  <a:pt x="0" y="58043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0" id="10"/>
          <p:cNvGrpSpPr/>
          <p:nvPr/>
        </p:nvGrpSpPr>
        <p:grpSpPr>
          <a:xfrm rot="0">
            <a:off x="8948983" y="2492316"/>
            <a:ext cx="7667125" cy="2204879"/>
            <a:chOff x="0" y="0"/>
            <a:chExt cx="10627919" cy="3056331"/>
          </a:xfrm>
        </p:grpSpPr>
        <p:sp>
          <p:nvSpPr>
            <p:cNvPr name="Freeform 11" id="11"/>
            <p:cNvSpPr/>
            <p:nvPr/>
          </p:nvSpPr>
          <p:spPr>
            <a:xfrm flipH="false" flipV="false" rot="0">
              <a:off x="19050" y="19050"/>
              <a:ext cx="10589768" cy="3018282"/>
            </a:xfrm>
            <a:custGeom>
              <a:avLst/>
              <a:gdLst/>
              <a:ahLst/>
              <a:cxnLst/>
              <a:rect r="r" b="b" t="t" l="l"/>
              <a:pathLst>
                <a:path h="3018282" w="10589768">
                  <a:moveTo>
                    <a:pt x="0" y="182880"/>
                  </a:moveTo>
                  <a:cubicBezTo>
                    <a:pt x="0" y="81915"/>
                    <a:pt x="82550" y="0"/>
                    <a:pt x="184531" y="0"/>
                  </a:cubicBezTo>
                  <a:lnTo>
                    <a:pt x="10405237" y="0"/>
                  </a:lnTo>
                  <a:cubicBezTo>
                    <a:pt x="10507091" y="0"/>
                    <a:pt x="10589768" y="81915"/>
                    <a:pt x="10589768" y="182880"/>
                  </a:cubicBezTo>
                  <a:lnTo>
                    <a:pt x="10589768" y="2835402"/>
                  </a:lnTo>
                  <a:cubicBezTo>
                    <a:pt x="10589768" y="2936367"/>
                    <a:pt x="10507218" y="3018282"/>
                    <a:pt x="10405237" y="3018282"/>
                  </a:cubicBezTo>
                  <a:lnTo>
                    <a:pt x="184531" y="3018282"/>
                  </a:lnTo>
                  <a:cubicBezTo>
                    <a:pt x="82677" y="3018282"/>
                    <a:pt x="0" y="2936367"/>
                    <a:pt x="0" y="2835402"/>
                  </a:cubicBezTo>
                  <a:close/>
                </a:path>
              </a:pathLst>
            </a:custGeom>
            <a:solidFill>
              <a:srgbClr val="0D0A2C">
                <a:alpha val="90196"/>
              </a:srgbClr>
            </a:solidFill>
            <a:ln w="12700">
              <a:solidFill>
                <a:srgbClr val="000000"/>
              </a:solidFill>
            </a:ln>
          </p:spPr>
        </p:sp>
        <p:sp>
          <p:nvSpPr>
            <p:cNvPr name="Freeform 12" id="12"/>
            <p:cNvSpPr/>
            <p:nvPr/>
          </p:nvSpPr>
          <p:spPr>
            <a:xfrm flipH="false" flipV="false" rot="0">
              <a:off x="0" y="0"/>
              <a:ext cx="10627868" cy="3056382"/>
            </a:xfrm>
            <a:custGeom>
              <a:avLst/>
              <a:gdLst/>
              <a:ahLst/>
              <a:cxnLst/>
              <a:rect r="r" b="b" t="t" l="l"/>
              <a:pathLst>
                <a:path h="3056382" w="10627868">
                  <a:moveTo>
                    <a:pt x="0" y="201930"/>
                  </a:moveTo>
                  <a:cubicBezTo>
                    <a:pt x="0" y="90297"/>
                    <a:pt x="91313" y="0"/>
                    <a:pt x="203581" y="0"/>
                  </a:cubicBezTo>
                  <a:lnTo>
                    <a:pt x="10424287" y="0"/>
                  </a:lnTo>
                  <a:lnTo>
                    <a:pt x="10424287" y="19050"/>
                  </a:lnTo>
                  <a:lnTo>
                    <a:pt x="10424287" y="0"/>
                  </a:lnTo>
                  <a:cubicBezTo>
                    <a:pt x="10536555" y="0"/>
                    <a:pt x="10627868" y="90297"/>
                    <a:pt x="10627868" y="201930"/>
                  </a:cubicBezTo>
                  <a:lnTo>
                    <a:pt x="10608818" y="201930"/>
                  </a:lnTo>
                  <a:lnTo>
                    <a:pt x="10627868" y="201930"/>
                  </a:lnTo>
                  <a:lnTo>
                    <a:pt x="10627868" y="2854452"/>
                  </a:lnTo>
                  <a:lnTo>
                    <a:pt x="10608818" y="2854452"/>
                  </a:lnTo>
                  <a:lnTo>
                    <a:pt x="10627868" y="2854452"/>
                  </a:lnTo>
                  <a:cubicBezTo>
                    <a:pt x="10627868" y="2966085"/>
                    <a:pt x="10536555" y="3056382"/>
                    <a:pt x="10424287" y="3056382"/>
                  </a:cubicBezTo>
                  <a:lnTo>
                    <a:pt x="10424287" y="3037332"/>
                  </a:lnTo>
                  <a:lnTo>
                    <a:pt x="10424287" y="3056382"/>
                  </a:lnTo>
                  <a:lnTo>
                    <a:pt x="203581" y="3056382"/>
                  </a:lnTo>
                  <a:lnTo>
                    <a:pt x="203581" y="3037332"/>
                  </a:lnTo>
                  <a:lnTo>
                    <a:pt x="203581" y="3056382"/>
                  </a:lnTo>
                  <a:cubicBezTo>
                    <a:pt x="91313" y="3056382"/>
                    <a:pt x="0" y="2966085"/>
                    <a:pt x="0" y="2854452"/>
                  </a:cubicBezTo>
                  <a:lnTo>
                    <a:pt x="0" y="201930"/>
                  </a:lnTo>
                  <a:lnTo>
                    <a:pt x="19050" y="201930"/>
                  </a:lnTo>
                  <a:lnTo>
                    <a:pt x="0" y="201930"/>
                  </a:lnTo>
                  <a:moveTo>
                    <a:pt x="38100" y="201930"/>
                  </a:moveTo>
                  <a:lnTo>
                    <a:pt x="38100" y="2854452"/>
                  </a:lnTo>
                  <a:lnTo>
                    <a:pt x="19050" y="2854452"/>
                  </a:lnTo>
                  <a:lnTo>
                    <a:pt x="38100" y="2854452"/>
                  </a:lnTo>
                  <a:cubicBezTo>
                    <a:pt x="38100" y="2944749"/>
                    <a:pt x="112014" y="3018282"/>
                    <a:pt x="203581" y="3018282"/>
                  </a:cubicBezTo>
                  <a:lnTo>
                    <a:pt x="10424287" y="3018282"/>
                  </a:lnTo>
                  <a:cubicBezTo>
                    <a:pt x="10515854" y="3018282"/>
                    <a:pt x="10589768" y="2944749"/>
                    <a:pt x="10589768" y="2854452"/>
                  </a:cubicBezTo>
                  <a:lnTo>
                    <a:pt x="10589768" y="201930"/>
                  </a:lnTo>
                  <a:cubicBezTo>
                    <a:pt x="10589768" y="111633"/>
                    <a:pt x="10515854" y="38100"/>
                    <a:pt x="10424287" y="38100"/>
                  </a:cubicBezTo>
                  <a:lnTo>
                    <a:pt x="203581" y="38100"/>
                  </a:lnTo>
                  <a:lnTo>
                    <a:pt x="203581" y="19050"/>
                  </a:lnTo>
                  <a:lnTo>
                    <a:pt x="203581" y="38100"/>
                  </a:lnTo>
                  <a:cubicBezTo>
                    <a:pt x="112014" y="38100"/>
                    <a:pt x="38100" y="111633"/>
                    <a:pt x="38100" y="201930"/>
                  </a:cubicBezTo>
                  <a:close/>
                </a:path>
              </a:pathLst>
            </a:custGeom>
            <a:solidFill>
              <a:srgbClr val="481C9E"/>
            </a:solidFill>
            <a:ln w="12700">
              <a:solidFill>
                <a:srgbClr val="000000"/>
              </a:solidFill>
            </a:ln>
          </p:spPr>
        </p:sp>
      </p:grpSp>
      <p:grpSp>
        <p:nvGrpSpPr>
          <p:cNvPr name="Group 13" id="13"/>
          <p:cNvGrpSpPr/>
          <p:nvPr/>
        </p:nvGrpSpPr>
        <p:grpSpPr>
          <a:xfrm rot="0">
            <a:off x="8948983" y="4896330"/>
            <a:ext cx="7667125" cy="2204879"/>
            <a:chOff x="0" y="0"/>
            <a:chExt cx="10627919" cy="3056331"/>
          </a:xfrm>
        </p:grpSpPr>
        <p:sp>
          <p:nvSpPr>
            <p:cNvPr name="Freeform 14" id="14"/>
            <p:cNvSpPr/>
            <p:nvPr/>
          </p:nvSpPr>
          <p:spPr>
            <a:xfrm flipH="false" flipV="false" rot="0">
              <a:off x="19050" y="19050"/>
              <a:ext cx="10589768" cy="3018282"/>
            </a:xfrm>
            <a:custGeom>
              <a:avLst/>
              <a:gdLst/>
              <a:ahLst/>
              <a:cxnLst/>
              <a:rect r="r" b="b" t="t" l="l"/>
              <a:pathLst>
                <a:path h="3018282" w="10589768">
                  <a:moveTo>
                    <a:pt x="0" y="182880"/>
                  </a:moveTo>
                  <a:cubicBezTo>
                    <a:pt x="0" y="81915"/>
                    <a:pt x="82550" y="0"/>
                    <a:pt x="184531" y="0"/>
                  </a:cubicBezTo>
                  <a:lnTo>
                    <a:pt x="10405237" y="0"/>
                  </a:lnTo>
                  <a:cubicBezTo>
                    <a:pt x="10507091" y="0"/>
                    <a:pt x="10589768" y="81915"/>
                    <a:pt x="10589768" y="182880"/>
                  </a:cubicBezTo>
                  <a:lnTo>
                    <a:pt x="10589768" y="2835402"/>
                  </a:lnTo>
                  <a:cubicBezTo>
                    <a:pt x="10589768" y="2936367"/>
                    <a:pt x="10507218" y="3018282"/>
                    <a:pt x="10405237" y="3018282"/>
                  </a:cubicBezTo>
                  <a:lnTo>
                    <a:pt x="184531" y="3018282"/>
                  </a:lnTo>
                  <a:cubicBezTo>
                    <a:pt x="82677" y="3018282"/>
                    <a:pt x="0" y="2936367"/>
                    <a:pt x="0" y="2835402"/>
                  </a:cubicBezTo>
                  <a:close/>
                </a:path>
              </a:pathLst>
            </a:custGeom>
            <a:solidFill>
              <a:srgbClr val="0D0A2C">
                <a:alpha val="90196"/>
              </a:srgbClr>
            </a:solidFill>
            <a:ln w="12700">
              <a:solidFill>
                <a:srgbClr val="000000"/>
              </a:solidFill>
            </a:ln>
          </p:spPr>
        </p:sp>
        <p:sp>
          <p:nvSpPr>
            <p:cNvPr name="Freeform 15" id="15"/>
            <p:cNvSpPr/>
            <p:nvPr/>
          </p:nvSpPr>
          <p:spPr>
            <a:xfrm flipH="false" flipV="false" rot="0">
              <a:off x="0" y="0"/>
              <a:ext cx="10627868" cy="3056382"/>
            </a:xfrm>
            <a:custGeom>
              <a:avLst/>
              <a:gdLst/>
              <a:ahLst/>
              <a:cxnLst/>
              <a:rect r="r" b="b" t="t" l="l"/>
              <a:pathLst>
                <a:path h="3056382" w="10627868">
                  <a:moveTo>
                    <a:pt x="0" y="201930"/>
                  </a:moveTo>
                  <a:cubicBezTo>
                    <a:pt x="0" y="90297"/>
                    <a:pt x="91313" y="0"/>
                    <a:pt x="203581" y="0"/>
                  </a:cubicBezTo>
                  <a:lnTo>
                    <a:pt x="10424287" y="0"/>
                  </a:lnTo>
                  <a:lnTo>
                    <a:pt x="10424287" y="19050"/>
                  </a:lnTo>
                  <a:lnTo>
                    <a:pt x="10424287" y="0"/>
                  </a:lnTo>
                  <a:cubicBezTo>
                    <a:pt x="10536555" y="0"/>
                    <a:pt x="10627868" y="90297"/>
                    <a:pt x="10627868" y="201930"/>
                  </a:cubicBezTo>
                  <a:lnTo>
                    <a:pt x="10608818" y="201930"/>
                  </a:lnTo>
                  <a:lnTo>
                    <a:pt x="10627868" y="201930"/>
                  </a:lnTo>
                  <a:lnTo>
                    <a:pt x="10627868" y="2854452"/>
                  </a:lnTo>
                  <a:lnTo>
                    <a:pt x="10608818" y="2854452"/>
                  </a:lnTo>
                  <a:lnTo>
                    <a:pt x="10627868" y="2854452"/>
                  </a:lnTo>
                  <a:cubicBezTo>
                    <a:pt x="10627868" y="2966085"/>
                    <a:pt x="10536555" y="3056382"/>
                    <a:pt x="10424287" y="3056382"/>
                  </a:cubicBezTo>
                  <a:lnTo>
                    <a:pt x="10424287" y="3037332"/>
                  </a:lnTo>
                  <a:lnTo>
                    <a:pt x="10424287" y="3056382"/>
                  </a:lnTo>
                  <a:lnTo>
                    <a:pt x="203581" y="3056382"/>
                  </a:lnTo>
                  <a:lnTo>
                    <a:pt x="203581" y="3037332"/>
                  </a:lnTo>
                  <a:lnTo>
                    <a:pt x="203581" y="3056382"/>
                  </a:lnTo>
                  <a:cubicBezTo>
                    <a:pt x="91313" y="3056382"/>
                    <a:pt x="0" y="2966085"/>
                    <a:pt x="0" y="2854452"/>
                  </a:cubicBezTo>
                  <a:lnTo>
                    <a:pt x="0" y="201930"/>
                  </a:lnTo>
                  <a:lnTo>
                    <a:pt x="19050" y="201930"/>
                  </a:lnTo>
                  <a:lnTo>
                    <a:pt x="0" y="201930"/>
                  </a:lnTo>
                  <a:moveTo>
                    <a:pt x="38100" y="201930"/>
                  </a:moveTo>
                  <a:lnTo>
                    <a:pt x="38100" y="2854452"/>
                  </a:lnTo>
                  <a:lnTo>
                    <a:pt x="19050" y="2854452"/>
                  </a:lnTo>
                  <a:lnTo>
                    <a:pt x="38100" y="2854452"/>
                  </a:lnTo>
                  <a:cubicBezTo>
                    <a:pt x="38100" y="2944749"/>
                    <a:pt x="112014" y="3018282"/>
                    <a:pt x="203581" y="3018282"/>
                  </a:cubicBezTo>
                  <a:lnTo>
                    <a:pt x="10424287" y="3018282"/>
                  </a:lnTo>
                  <a:cubicBezTo>
                    <a:pt x="10515854" y="3018282"/>
                    <a:pt x="10589768" y="2944749"/>
                    <a:pt x="10589768" y="2854452"/>
                  </a:cubicBezTo>
                  <a:lnTo>
                    <a:pt x="10589768" y="201930"/>
                  </a:lnTo>
                  <a:cubicBezTo>
                    <a:pt x="10589768" y="111633"/>
                    <a:pt x="10515854" y="38100"/>
                    <a:pt x="10424287" y="38100"/>
                  </a:cubicBezTo>
                  <a:lnTo>
                    <a:pt x="203581" y="38100"/>
                  </a:lnTo>
                  <a:lnTo>
                    <a:pt x="203581" y="19050"/>
                  </a:lnTo>
                  <a:lnTo>
                    <a:pt x="203581" y="38100"/>
                  </a:lnTo>
                  <a:cubicBezTo>
                    <a:pt x="112014" y="38100"/>
                    <a:pt x="38100" y="111633"/>
                    <a:pt x="38100" y="201930"/>
                  </a:cubicBezTo>
                  <a:close/>
                </a:path>
              </a:pathLst>
            </a:custGeom>
            <a:solidFill>
              <a:srgbClr val="481C9E"/>
            </a:solidFill>
            <a:ln w="12700">
              <a:solidFill>
                <a:srgbClr val="000000"/>
              </a:solidFill>
            </a:ln>
          </p:spPr>
        </p:sp>
      </p:grpSp>
      <p:grpSp>
        <p:nvGrpSpPr>
          <p:cNvPr name="Group 16" id="16"/>
          <p:cNvGrpSpPr/>
          <p:nvPr/>
        </p:nvGrpSpPr>
        <p:grpSpPr>
          <a:xfrm rot="0">
            <a:off x="8948983" y="7300344"/>
            <a:ext cx="7667125" cy="2204879"/>
            <a:chOff x="0" y="0"/>
            <a:chExt cx="10627919" cy="3056331"/>
          </a:xfrm>
        </p:grpSpPr>
        <p:sp>
          <p:nvSpPr>
            <p:cNvPr name="Freeform 17" id="17"/>
            <p:cNvSpPr/>
            <p:nvPr/>
          </p:nvSpPr>
          <p:spPr>
            <a:xfrm flipH="false" flipV="false" rot="0">
              <a:off x="19050" y="19050"/>
              <a:ext cx="10589768" cy="3018282"/>
            </a:xfrm>
            <a:custGeom>
              <a:avLst/>
              <a:gdLst/>
              <a:ahLst/>
              <a:cxnLst/>
              <a:rect r="r" b="b" t="t" l="l"/>
              <a:pathLst>
                <a:path h="3018282" w="10589768">
                  <a:moveTo>
                    <a:pt x="0" y="182880"/>
                  </a:moveTo>
                  <a:cubicBezTo>
                    <a:pt x="0" y="81915"/>
                    <a:pt x="82550" y="0"/>
                    <a:pt x="184531" y="0"/>
                  </a:cubicBezTo>
                  <a:lnTo>
                    <a:pt x="10405237" y="0"/>
                  </a:lnTo>
                  <a:cubicBezTo>
                    <a:pt x="10507091" y="0"/>
                    <a:pt x="10589768" y="81915"/>
                    <a:pt x="10589768" y="182880"/>
                  </a:cubicBezTo>
                  <a:lnTo>
                    <a:pt x="10589768" y="2835402"/>
                  </a:lnTo>
                  <a:cubicBezTo>
                    <a:pt x="10589768" y="2936367"/>
                    <a:pt x="10507218" y="3018282"/>
                    <a:pt x="10405237" y="3018282"/>
                  </a:cubicBezTo>
                  <a:lnTo>
                    <a:pt x="184531" y="3018282"/>
                  </a:lnTo>
                  <a:cubicBezTo>
                    <a:pt x="82677" y="3018282"/>
                    <a:pt x="0" y="2936367"/>
                    <a:pt x="0" y="2835402"/>
                  </a:cubicBezTo>
                  <a:close/>
                </a:path>
              </a:pathLst>
            </a:custGeom>
            <a:solidFill>
              <a:srgbClr val="0D0A2C">
                <a:alpha val="90196"/>
              </a:srgbClr>
            </a:solidFill>
            <a:ln w="12700">
              <a:solidFill>
                <a:srgbClr val="000000"/>
              </a:solidFill>
            </a:ln>
          </p:spPr>
        </p:sp>
        <p:sp>
          <p:nvSpPr>
            <p:cNvPr name="Freeform 18" id="18"/>
            <p:cNvSpPr/>
            <p:nvPr/>
          </p:nvSpPr>
          <p:spPr>
            <a:xfrm flipH="false" flipV="false" rot="0">
              <a:off x="0" y="0"/>
              <a:ext cx="10627868" cy="3056382"/>
            </a:xfrm>
            <a:custGeom>
              <a:avLst/>
              <a:gdLst/>
              <a:ahLst/>
              <a:cxnLst/>
              <a:rect r="r" b="b" t="t" l="l"/>
              <a:pathLst>
                <a:path h="3056382" w="10627868">
                  <a:moveTo>
                    <a:pt x="0" y="201930"/>
                  </a:moveTo>
                  <a:cubicBezTo>
                    <a:pt x="0" y="90297"/>
                    <a:pt x="91313" y="0"/>
                    <a:pt x="203581" y="0"/>
                  </a:cubicBezTo>
                  <a:lnTo>
                    <a:pt x="10424287" y="0"/>
                  </a:lnTo>
                  <a:lnTo>
                    <a:pt x="10424287" y="19050"/>
                  </a:lnTo>
                  <a:lnTo>
                    <a:pt x="10424287" y="0"/>
                  </a:lnTo>
                  <a:cubicBezTo>
                    <a:pt x="10536555" y="0"/>
                    <a:pt x="10627868" y="90297"/>
                    <a:pt x="10627868" y="201930"/>
                  </a:cubicBezTo>
                  <a:lnTo>
                    <a:pt x="10608818" y="201930"/>
                  </a:lnTo>
                  <a:lnTo>
                    <a:pt x="10627868" y="201930"/>
                  </a:lnTo>
                  <a:lnTo>
                    <a:pt x="10627868" y="2854452"/>
                  </a:lnTo>
                  <a:lnTo>
                    <a:pt x="10608818" y="2854452"/>
                  </a:lnTo>
                  <a:lnTo>
                    <a:pt x="10627868" y="2854452"/>
                  </a:lnTo>
                  <a:cubicBezTo>
                    <a:pt x="10627868" y="2966085"/>
                    <a:pt x="10536555" y="3056382"/>
                    <a:pt x="10424287" y="3056382"/>
                  </a:cubicBezTo>
                  <a:lnTo>
                    <a:pt x="10424287" y="3037332"/>
                  </a:lnTo>
                  <a:lnTo>
                    <a:pt x="10424287" y="3056382"/>
                  </a:lnTo>
                  <a:lnTo>
                    <a:pt x="203581" y="3056382"/>
                  </a:lnTo>
                  <a:lnTo>
                    <a:pt x="203581" y="3037332"/>
                  </a:lnTo>
                  <a:lnTo>
                    <a:pt x="203581" y="3056382"/>
                  </a:lnTo>
                  <a:cubicBezTo>
                    <a:pt x="91313" y="3056382"/>
                    <a:pt x="0" y="2966085"/>
                    <a:pt x="0" y="2854452"/>
                  </a:cubicBezTo>
                  <a:lnTo>
                    <a:pt x="0" y="201930"/>
                  </a:lnTo>
                  <a:lnTo>
                    <a:pt x="19050" y="201930"/>
                  </a:lnTo>
                  <a:lnTo>
                    <a:pt x="0" y="201930"/>
                  </a:lnTo>
                  <a:moveTo>
                    <a:pt x="38100" y="201930"/>
                  </a:moveTo>
                  <a:lnTo>
                    <a:pt x="38100" y="2854452"/>
                  </a:lnTo>
                  <a:lnTo>
                    <a:pt x="19050" y="2854452"/>
                  </a:lnTo>
                  <a:lnTo>
                    <a:pt x="38100" y="2854452"/>
                  </a:lnTo>
                  <a:cubicBezTo>
                    <a:pt x="38100" y="2944749"/>
                    <a:pt x="112014" y="3018282"/>
                    <a:pt x="203581" y="3018282"/>
                  </a:cubicBezTo>
                  <a:lnTo>
                    <a:pt x="10424287" y="3018282"/>
                  </a:lnTo>
                  <a:cubicBezTo>
                    <a:pt x="10515854" y="3018282"/>
                    <a:pt x="10589768" y="2944749"/>
                    <a:pt x="10589768" y="2854452"/>
                  </a:cubicBezTo>
                  <a:lnTo>
                    <a:pt x="10589768" y="201930"/>
                  </a:lnTo>
                  <a:cubicBezTo>
                    <a:pt x="10589768" y="111633"/>
                    <a:pt x="10515854" y="38100"/>
                    <a:pt x="10424287" y="38100"/>
                  </a:cubicBezTo>
                  <a:lnTo>
                    <a:pt x="203581" y="38100"/>
                  </a:lnTo>
                  <a:lnTo>
                    <a:pt x="203581" y="19050"/>
                  </a:lnTo>
                  <a:lnTo>
                    <a:pt x="203581" y="38100"/>
                  </a:lnTo>
                  <a:cubicBezTo>
                    <a:pt x="112014" y="38100"/>
                    <a:pt x="38100" y="111633"/>
                    <a:pt x="38100" y="201930"/>
                  </a:cubicBezTo>
                  <a:close/>
                </a:path>
              </a:pathLst>
            </a:custGeom>
            <a:solidFill>
              <a:srgbClr val="481C9E"/>
            </a:solidFill>
            <a:ln w="12700">
              <a:solidFill>
                <a:srgbClr val="000000"/>
              </a:solidFill>
            </a:ln>
          </p:spPr>
        </p:sp>
      </p:grpSp>
      <p:sp>
        <p:nvSpPr>
          <p:cNvPr name="TextBox 19" id="19"/>
          <p:cNvSpPr txBox="true"/>
          <p:nvPr/>
        </p:nvSpPr>
        <p:spPr>
          <a:xfrm rot="0">
            <a:off x="9144000" y="1554722"/>
            <a:ext cx="7046019" cy="689943"/>
          </a:xfrm>
          <a:prstGeom prst="rect">
            <a:avLst/>
          </a:prstGeom>
        </p:spPr>
        <p:txBody>
          <a:bodyPr anchor="t" rtlCol="false" tIns="0" lIns="0" bIns="0" rIns="0">
            <a:spAutoFit/>
          </a:bodyPr>
          <a:lstStyle/>
          <a:p>
            <a:pPr algn="ctr">
              <a:lnSpc>
                <a:spcPts val="5530"/>
              </a:lnSpc>
            </a:pPr>
            <a:r>
              <a:rPr lang="en-US" sz="4448">
                <a:solidFill>
                  <a:srgbClr val="0C3571"/>
                </a:solidFill>
                <a:latin typeface="Anantason"/>
                <a:ea typeface="Anantason"/>
                <a:cs typeface="Anantason"/>
                <a:sym typeface="Anantason"/>
              </a:rPr>
              <a:t>High-Value Discount Users</a:t>
            </a:r>
          </a:p>
        </p:txBody>
      </p:sp>
      <p:sp>
        <p:nvSpPr>
          <p:cNvPr name="TextBox 20" id="20"/>
          <p:cNvSpPr txBox="true"/>
          <p:nvPr/>
        </p:nvSpPr>
        <p:spPr>
          <a:xfrm rot="0">
            <a:off x="9299281" y="2820453"/>
            <a:ext cx="3798876" cy="368235"/>
          </a:xfrm>
          <a:prstGeom prst="rect">
            <a:avLst/>
          </a:prstGeom>
        </p:spPr>
        <p:txBody>
          <a:bodyPr anchor="t" rtlCol="false" tIns="0" lIns="0" bIns="0" rIns="0">
            <a:spAutoFit/>
          </a:bodyPr>
          <a:lstStyle/>
          <a:p>
            <a:pPr algn="l">
              <a:lnSpc>
                <a:spcPts val="2889"/>
              </a:lnSpc>
            </a:pPr>
            <a:r>
              <a:rPr lang="en-US" sz="2324">
                <a:solidFill>
                  <a:srgbClr val="DCD7E5"/>
                </a:solidFill>
                <a:latin typeface="Cloud"/>
                <a:ea typeface="Cloud"/>
                <a:cs typeface="Cloud"/>
                <a:sym typeface="Cloud"/>
              </a:rPr>
              <a:t>Smart Shoppers Identified</a:t>
            </a:r>
          </a:p>
        </p:txBody>
      </p:sp>
      <p:sp>
        <p:nvSpPr>
          <p:cNvPr name="TextBox 21" id="21"/>
          <p:cNvSpPr txBox="true"/>
          <p:nvPr/>
        </p:nvSpPr>
        <p:spPr>
          <a:xfrm rot="0">
            <a:off x="9299281" y="3264888"/>
            <a:ext cx="7048977" cy="1040329"/>
          </a:xfrm>
          <a:prstGeom prst="rect">
            <a:avLst/>
          </a:prstGeom>
        </p:spPr>
        <p:txBody>
          <a:bodyPr anchor="t" rtlCol="false" tIns="0" lIns="0" bIns="0" rIns="0">
            <a:spAutoFit/>
          </a:bodyPr>
          <a:lstStyle/>
          <a:p>
            <a:pPr algn="l">
              <a:lnSpc>
                <a:spcPts val="2825"/>
              </a:lnSpc>
            </a:pPr>
            <a:r>
              <a:rPr lang="en-US" sz="1743">
                <a:solidFill>
                  <a:srgbClr val="DCD7E5"/>
                </a:solidFill>
                <a:latin typeface="Cloud"/>
                <a:ea typeface="Cloud"/>
                <a:cs typeface="Cloud"/>
                <a:sym typeface="Cloud"/>
              </a:rPr>
              <a:t>A valuable customer segment that combines above-average spending with strategic discount utilization, demonstrating both purchasing power and value consciousness</a:t>
            </a:r>
          </a:p>
        </p:txBody>
      </p:sp>
      <p:sp>
        <p:nvSpPr>
          <p:cNvPr name="TextBox 22" id="22"/>
          <p:cNvSpPr txBox="true"/>
          <p:nvPr/>
        </p:nvSpPr>
        <p:spPr>
          <a:xfrm rot="0">
            <a:off x="9299281" y="5230595"/>
            <a:ext cx="3483265" cy="368235"/>
          </a:xfrm>
          <a:prstGeom prst="rect">
            <a:avLst/>
          </a:prstGeom>
        </p:spPr>
        <p:txBody>
          <a:bodyPr anchor="t" rtlCol="false" tIns="0" lIns="0" bIns="0" rIns="0">
            <a:spAutoFit/>
          </a:bodyPr>
          <a:lstStyle/>
          <a:p>
            <a:pPr algn="l">
              <a:lnSpc>
                <a:spcPts val="2889"/>
              </a:lnSpc>
            </a:pPr>
            <a:r>
              <a:rPr lang="en-US" sz="2324">
                <a:solidFill>
                  <a:srgbClr val="DCD7E5"/>
                </a:solidFill>
                <a:latin typeface="Cloud"/>
                <a:ea typeface="Cloud"/>
                <a:cs typeface="Cloud"/>
                <a:sym typeface="Cloud"/>
              </a:rPr>
              <a:t>Premium Value Seekers</a:t>
            </a:r>
          </a:p>
        </p:txBody>
      </p:sp>
      <p:sp>
        <p:nvSpPr>
          <p:cNvPr name="TextBox 23" id="23"/>
          <p:cNvSpPr txBox="true"/>
          <p:nvPr/>
        </p:nvSpPr>
        <p:spPr>
          <a:xfrm rot="0">
            <a:off x="9299281" y="5668902"/>
            <a:ext cx="7048977" cy="1040329"/>
          </a:xfrm>
          <a:prstGeom prst="rect">
            <a:avLst/>
          </a:prstGeom>
        </p:spPr>
        <p:txBody>
          <a:bodyPr anchor="t" rtlCol="false" tIns="0" lIns="0" bIns="0" rIns="0">
            <a:spAutoFit/>
          </a:bodyPr>
          <a:lstStyle/>
          <a:p>
            <a:pPr algn="l">
              <a:lnSpc>
                <a:spcPts val="2825"/>
              </a:lnSpc>
            </a:pPr>
            <a:r>
              <a:rPr lang="en-US" sz="1743">
                <a:solidFill>
                  <a:srgbClr val="DCD7E5"/>
                </a:solidFill>
                <a:latin typeface="Cloud"/>
                <a:ea typeface="Cloud"/>
                <a:cs typeface="Cloud"/>
                <a:sym typeface="Cloud"/>
              </a:rPr>
              <a:t>These high spenders maximize their investment through discounts, suggesting they're willing to spend more when they perceive enhanced value propositions</a:t>
            </a:r>
          </a:p>
        </p:txBody>
      </p:sp>
      <p:sp>
        <p:nvSpPr>
          <p:cNvPr name="TextBox 24" id="24"/>
          <p:cNvSpPr txBox="true"/>
          <p:nvPr/>
        </p:nvSpPr>
        <p:spPr>
          <a:xfrm rot="0">
            <a:off x="9299281" y="7596759"/>
            <a:ext cx="3180465" cy="368235"/>
          </a:xfrm>
          <a:prstGeom prst="rect">
            <a:avLst/>
          </a:prstGeom>
        </p:spPr>
        <p:txBody>
          <a:bodyPr anchor="t" rtlCol="false" tIns="0" lIns="0" bIns="0" rIns="0">
            <a:spAutoFit/>
          </a:bodyPr>
          <a:lstStyle/>
          <a:p>
            <a:pPr algn="l">
              <a:lnSpc>
                <a:spcPts val="2889"/>
              </a:lnSpc>
            </a:pPr>
            <a:r>
              <a:rPr lang="en-US" sz="2324">
                <a:solidFill>
                  <a:srgbClr val="DCD7E5"/>
                </a:solidFill>
                <a:latin typeface="Cloud"/>
                <a:ea typeface="Cloud"/>
                <a:cs typeface="Cloud"/>
                <a:sym typeface="Cloud"/>
              </a:rPr>
              <a:t>Strategic Opportunity</a:t>
            </a:r>
          </a:p>
        </p:txBody>
      </p:sp>
      <p:sp>
        <p:nvSpPr>
          <p:cNvPr name="TextBox 25" id="25"/>
          <p:cNvSpPr txBox="true"/>
          <p:nvPr/>
        </p:nvSpPr>
        <p:spPr>
          <a:xfrm rot="0">
            <a:off x="9299281" y="8072907"/>
            <a:ext cx="7048977" cy="1040329"/>
          </a:xfrm>
          <a:prstGeom prst="rect">
            <a:avLst/>
          </a:prstGeom>
        </p:spPr>
        <p:txBody>
          <a:bodyPr anchor="t" rtlCol="false" tIns="0" lIns="0" bIns="0" rIns="0">
            <a:spAutoFit/>
          </a:bodyPr>
          <a:lstStyle/>
          <a:p>
            <a:pPr algn="l">
              <a:lnSpc>
                <a:spcPts val="2825"/>
              </a:lnSpc>
            </a:pPr>
            <a:r>
              <a:rPr lang="en-US" sz="1743">
                <a:solidFill>
                  <a:srgbClr val="DCD7E5"/>
                </a:solidFill>
                <a:latin typeface="Cloud"/>
                <a:ea typeface="Cloud"/>
                <a:cs typeface="Cloud"/>
                <a:sym typeface="Cloud"/>
              </a:rPr>
              <a:t>Target this segment with exclusive VIP offers and loyalty rewards that combine premium positioning with strategic discounting to drive increased lifetime value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9F2F7"/>
        </a:solidFill>
      </p:bgPr>
    </p:bg>
    <p:spTree>
      <p:nvGrpSpPr>
        <p:cNvPr id="1" name=""/>
        <p:cNvGrpSpPr/>
        <p:nvPr/>
      </p:nvGrpSpPr>
      <p:grpSpPr>
        <a:xfrm>
          <a:off x="0" y="0"/>
          <a:ext cx="0" cy="0"/>
          <a:chOff x="0" y="0"/>
          <a:chExt cx="0" cy="0"/>
        </a:xfrm>
      </p:grpSpPr>
      <p:sp>
        <p:nvSpPr>
          <p:cNvPr name="Freeform 2" id="2"/>
          <p:cNvSpPr/>
          <p:nvPr/>
        </p:nvSpPr>
        <p:spPr>
          <a:xfrm flipH="false" flipV="false" rot="0">
            <a:off x="-624614" y="6515100"/>
            <a:ext cx="7059478" cy="4114800"/>
          </a:xfrm>
          <a:custGeom>
            <a:avLst/>
            <a:gdLst/>
            <a:ahLst/>
            <a:cxnLst/>
            <a:rect r="r" b="b" t="t" l="l"/>
            <a:pathLst>
              <a:path h="4114800" w="7059478">
                <a:moveTo>
                  <a:pt x="0" y="0"/>
                </a:moveTo>
                <a:lnTo>
                  <a:pt x="7059478" y="0"/>
                </a:lnTo>
                <a:lnTo>
                  <a:pt x="705947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1924574" y="-357188"/>
            <a:ext cx="7059478" cy="4114800"/>
          </a:xfrm>
          <a:custGeom>
            <a:avLst/>
            <a:gdLst/>
            <a:ahLst/>
            <a:cxnLst/>
            <a:rect r="r" b="b" t="t" l="l"/>
            <a:pathLst>
              <a:path h="4114800" w="7059478">
                <a:moveTo>
                  <a:pt x="7059477" y="4114800"/>
                </a:moveTo>
                <a:lnTo>
                  <a:pt x="0" y="4114800"/>
                </a:lnTo>
                <a:lnTo>
                  <a:pt x="0" y="0"/>
                </a:lnTo>
                <a:lnTo>
                  <a:pt x="7059477" y="0"/>
                </a:lnTo>
                <a:lnTo>
                  <a:pt x="7059477"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002168">
            <a:off x="-1222246" y="-3356253"/>
            <a:ext cx="5987226" cy="5998131"/>
          </a:xfrm>
          <a:custGeom>
            <a:avLst/>
            <a:gdLst/>
            <a:ahLst/>
            <a:cxnLst/>
            <a:rect r="r" b="b" t="t" l="l"/>
            <a:pathLst>
              <a:path h="5998131" w="5987226">
                <a:moveTo>
                  <a:pt x="0" y="0"/>
                </a:moveTo>
                <a:lnTo>
                  <a:pt x="5987225" y="0"/>
                </a:lnTo>
                <a:lnTo>
                  <a:pt x="5987225" y="5998131"/>
                </a:lnTo>
                <a:lnTo>
                  <a:pt x="0" y="59981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002168">
            <a:off x="14265687" y="7630834"/>
            <a:ext cx="5987226" cy="5998131"/>
          </a:xfrm>
          <a:custGeom>
            <a:avLst/>
            <a:gdLst/>
            <a:ahLst/>
            <a:cxnLst/>
            <a:rect r="r" b="b" t="t" l="l"/>
            <a:pathLst>
              <a:path h="5998131" w="5987226">
                <a:moveTo>
                  <a:pt x="5987226" y="5998132"/>
                </a:moveTo>
                <a:lnTo>
                  <a:pt x="0" y="5998132"/>
                </a:lnTo>
                <a:lnTo>
                  <a:pt x="0" y="0"/>
                </a:lnTo>
                <a:lnTo>
                  <a:pt x="5987226" y="0"/>
                </a:lnTo>
                <a:lnTo>
                  <a:pt x="5987226" y="599813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7488824">
            <a:off x="-221065" y="7727724"/>
            <a:ext cx="3071030" cy="5804353"/>
          </a:xfrm>
          <a:custGeom>
            <a:avLst/>
            <a:gdLst/>
            <a:ahLst/>
            <a:cxnLst/>
            <a:rect r="r" b="b" t="t" l="l"/>
            <a:pathLst>
              <a:path h="5804353" w="3071030">
                <a:moveTo>
                  <a:pt x="0" y="0"/>
                </a:moveTo>
                <a:lnTo>
                  <a:pt x="3071030" y="0"/>
                </a:lnTo>
                <a:lnTo>
                  <a:pt x="3071030" y="5804352"/>
                </a:lnTo>
                <a:lnTo>
                  <a:pt x="0" y="5804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7488824">
            <a:off x="17178162" y="-1873476"/>
            <a:ext cx="3071030" cy="5804353"/>
          </a:xfrm>
          <a:custGeom>
            <a:avLst/>
            <a:gdLst/>
            <a:ahLst/>
            <a:cxnLst/>
            <a:rect r="r" b="b" t="t" l="l"/>
            <a:pathLst>
              <a:path h="5804353" w="3071030">
                <a:moveTo>
                  <a:pt x="0" y="0"/>
                </a:moveTo>
                <a:lnTo>
                  <a:pt x="3071030" y="0"/>
                </a:lnTo>
                <a:lnTo>
                  <a:pt x="3071030" y="5804352"/>
                </a:lnTo>
                <a:lnTo>
                  <a:pt x="0" y="5804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033462" y="2155000"/>
            <a:ext cx="7586186" cy="809413"/>
          </a:xfrm>
          <a:prstGeom prst="rect">
            <a:avLst/>
          </a:prstGeom>
        </p:spPr>
        <p:txBody>
          <a:bodyPr anchor="t" rtlCol="false" tIns="0" lIns="0" bIns="0" rIns="0">
            <a:spAutoFit/>
          </a:bodyPr>
          <a:lstStyle/>
          <a:p>
            <a:pPr algn="l">
              <a:lnSpc>
                <a:spcPts val="6466"/>
              </a:lnSpc>
            </a:pPr>
            <a:r>
              <a:rPr lang="en-US" b="true" sz="5199">
                <a:solidFill>
                  <a:srgbClr val="0C3571"/>
                </a:solidFill>
                <a:latin typeface="Anantason Bold"/>
                <a:ea typeface="Anantason Bold"/>
                <a:cs typeface="Anantason Bold"/>
                <a:sym typeface="Anantason Bold"/>
              </a:rPr>
              <a:t>Top Performing Products</a:t>
            </a:r>
          </a:p>
        </p:txBody>
      </p:sp>
      <p:grpSp>
        <p:nvGrpSpPr>
          <p:cNvPr name="Group 9" id="9"/>
          <p:cNvGrpSpPr/>
          <p:nvPr/>
        </p:nvGrpSpPr>
        <p:grpSpPr>
          <a:xfrm rot="0">
            <a:off x="1028700" y="3231509"/>
            <a:ext cx="5278641" cy="1631452"/>
            <a:chOff x="0" y="0"/>
            <a:chExt cx="7038188" cy="2175269"/>
          </a:xfrm>
        </p:grpSpPr>
        <p:sp>
          <p:nvSpPr>
            <p:cNvPr name="Freeform 10" id="10"/>
            <p:cNvSpPr/>
            <p:nvPr/>
          </p:nvSpPr>
          <p:spPr>
            <a:xfrm flipH="false" flipV="false" rot="0">
              <a:off x="6350" y="6350"/>
              <a:ext cx="7025386" cy="2162556"/>
            </a:xfrm>
            <a:custGeom>
              <a:avLst/>
              <a:gdLst/>
              <a:ahLst/>
              <a:cxnLst/>
              <a:rect r="r" b="b" t="t" l="l"/>
              <a:pathLst>
                <a:path h="2162556" w="7025386">
                  <a:moveTo>
                    <a:pt x="0" y="138938"/>
                  </a:moveTo>
                  <a:cubicBezTo>
                    <a:pt x="0" y="62230"/>
                    <a:pt x="62484" y="0"/>
                    <a:pt x="139446" y="0"/>
                  </a:cubicBezTo>
                  <a:lnTo>
                    <a:pt x="6885940" y="0"/>
                  </a:lnTo>
                  <a:cubicBezTo>
                    <a:pt x="6963029" y="0"/>
                    <a:pt x="7025386" y="62230"/>
                    <a:pt x="7025386" y="138938"/>
                  </a:cubicBezTo>
                  <a:lnTo>
                    <a:pt x="7025386" y="2023618"/>
                  </a:lnTo>
                  <a:cubicBezTo>
                    <a:pt x="7025386" y="2100326"/>
                    <a:pt x="6962902" y="2162556"/>
                    <a:pt x="6885940" y="2162556"/>
                  </a:cubicBezTo>
                  <a:lnTo>
                    <a:pt x="139446" y="2162556"/>
                  </a:lnTo>
                  <a:cubicBezTo>
                    <a:pt x="62484" y="2162556"/>
                    <a:pt x="0" y="2100326"/>
                    <a:pt x="0" y="2023618"/>
                  </a:cubicBezTo>
                  <a:close/>
                </a:path>
              </a:pathLst>
            </a:custGeom>
            <a:solidFill>
              <a:srgbClr val="07488F"/>
            </a:solidFill>
            <a:ln w="12700">
              <a:solidFill>
                <a:srgbClr val="000000"/>
              </a:solidFill>
            </a:ln>
          </p:spPr>
        </p:sp>
        <p:sp>
          <p:nvSpPr>
            <p:cNvPr name="Freeform 11" id="11"/>
            <p:cNvSpPr/>
            <p:nvPr/>
          </p:nvSpPr>
          <p:spPr>
            <a:xfrm flipH="false" flipV="false" rot="0">
              <a:off x="0" y="0"/>
              <a:ext cx="7038086" cy="2175256"/>
            </a:xfrm>
            <a:custGeom>
              <a:avLst/>
              <a:gdLst/>
              <a:ahLst/>
              <a:cxnLst/>
              <a:rect r="r" b="b" t="t" l="l"/>
              <a:pathLst>
                <a:path h="2175256" w="7038086">
                  <a:moveTo>
                    <a:pt x="0" y="145288"/>
                  </a:moveTo>
                  <a:cubicBezTo>
                    <a:pt x="0" y="65024"/>
                    <a:pt x="65278" y="0"/>
                    <a:pt x="145796" y="0"/>
                  </a:cubicBezTo>
                  <a:lnTo>
                    <a:pt x="6892290" y="0"/>
                  </a:lnTo>
                  <a:lnTo>
                    <a:pt x="6892290" y="6350"/>
                  </a:lnTo>
                  <a:lnTo>
                    <a:pt x="6892290" y="0"/>
                  </a:lnTo>
                  <a:cubicBezTo>
                    <a:pt x="6972808" y="0"/>
                    <a:pt x="7038086" y="65024"/>
                    <a:pt x="7038086" y="145288"/>
                  </a:cubicBezTo>
                  <a:lnTo>
                    <a:pt x="7031736" y="145288"/>
                  </a:lnTo>
                  <a:lnTo>
                    <a:pt x="7038086" y="145288"/>
                  </a:lnTo>
                  <a:lnTo>
                    <a:pt x="7038086" y="2029968"/>
                  </a:lnTo>
                  <a:lnTo>
                    <a:pt x="7031736" y="2029968"/>
                  </a:lnTo>
                  <a:lnTo>
                    <a:pt x="7038086" y="2029968"/>
                  </a:lnTo>
                  <a:cubicBezTo>
                    <a:pt x="7038086" y="2110232"/>
                    <a:pt x="6972808" y="2175256"/>
                    <a:pt x="6892290" y="2175256"/>
                  </a:cubicBezTo>
                  <a:lnTo>
                    <a:pt x="6892290" y="2168906"/>
                  </a:lnTo>
                  <a:lnTo>
                    <a:pt x="6892290" y="2175256"/>
                  </a:lnTo>
                  <a:lnTo>
                    <a:pt x="145796" y="2175256"/>
                  </a:lnTo>
                  <a:lnTo>
                    <a:pt x="145796" y="2168906"/>
                  </a:lnTo>
                  <a:lnTo>
                    <a:pt x="145796" y="2175256"/>
                  </a:lnTo>
                  <a:cubicBezTo>
                    <a:pt x="65278" y="2175256"/>
                    <a:pt x="0" y="2110232"/>
                    <a:pt x="0" y="2029968"/>
                  </a:cubicBezTo>
                  <a:lnTo>
                    <a:pt x="0" y="145288"/>
                  </a:lnTo>
                  <a:lnTo>
                    <a:pt x="6350" y="145288"/>
                  </a:lnTo>
                  <a:lnTo>
                    <a:pt x="0" y="145288"/>
                  </a:lnTo>
                  <a:moveTo>
                    <a:pt x="12700" y="145288"/>
                  </a:moveTo>
                  <a:lnTo>
                    <a:pt x="12700" y="2029968"/>
                  </a:lnTo>
                  <a:lnTo>
                    <a:pt x="6350" y="2029968"/>
                  </a:lnTo>
                  <a:lnTo>
                    <a:pt x="12700" y="2029968"/>
                  </a:lnTo>
                  <a:cubicBezTo>
                    <a:pt x="12700" y="2103120"/>
                    <a:pt x="72263" y="2162556"/>
                    <a:pt x="145796" y="2162556"/>
                  </a:cubicBezTo>
                  <a:lnTo>
                    <a:pt x="6892290" y="2162556"/>
                  </a:lnTo>
                  <a:cubicBezTo>
                    <a:pt x="6965823" y="2162556"/>
                    <a:pt x="7025386" y="2103120"/>
                    <a:pt x="7025386" y="2029968"/>
                  </a:cubicBezTo>
                  <a:lnTo>
                    <a:pt x="7025386" y="145288"/>
                  </a:lnTo>
                  <a:cubicBezTo>
                    <a:pt x="7025513" y="72136"/>
                    <a:pt x="6965950" y="12700"/>
                    <a:pt x="6892290" y="12700"/>
                  </a:cubicBezTo>
                  <a:lnTo>
                    <a:pt x="145796" y="12700"/>
                  </a:lnTo>
                  <a:lnTo>
                    <a:pt x="145796" y="6350"/>
                  </a:lnTo>
                  <a:lnTo>
                    <a:pt x="145796" y="12700"/>
                  </a:lnTo>
                  <a:cubicBezTo>
                    <a:pt x="72263" y="12700"/>
                    <a:pt x="12700" y="72136"/>
                    <a:pt x="12700" y="145288"/>
                  </a:cubicBezTo>
                  <a:close/>
                </a:path>
              </a:pathLst>
            </a:custGeom>
            <a:solidFill>
              <a:srgbClr val="6135B7"/>
            </a:solidFill>
            <a:ln w="12700">
              <a:solidFill>
                <a:srgbClr val="000000"/>
              </a:solidFill>
            </a:ln>
          </p:spPr>
        </p:sp>
      </p:grpSp>
      <p:sp>
        <p:nvSpPr>
          <p:cNvPr name="TextBox 12" id="12"/>
          <p:cNvSpPr txBox="true"/>
          <p:nvPr/>
        </p:nvSpPr>
        <p:spPr>
          <a:xfrm rot="0">
            <a:off x="1290933" y="3474691"/>
            <a:ext cx="1263853" cy="418318"/>
          </a:xfrm>
          <a:prstGeom prst="rect">
            <a:avLst/>
          </a:prstGeom>
        </p:spPr>
        <p:txBody>
          <a:bodyPr anchor="t" rtlCol="false" tIns="0" lIns="0" bIns="0" rIns="0">
            <a:spAutoFit/>
          </a:bodyPr>
          <a:lstStyle/>
          <a:p>
            <a:pPr algn="l">
              <a:lnSpc>
                <a:spcPts val="3246"/>
              </a:lnSpc>
            </a:pPr>
            <a:r>
              <a:rPr lang="en-US" sz="2637">
                <a:solidFill>
                  <a:srgbClr val="E9F2F7"/>
                </a:solidFill>
                <a:latin typeface="Cloud"/>
                <a:ea typeface="Cloud"/>
                <a:cs typeface="Cloud"/>
                <a:sym typeface="Cloud"/>
              </a:rPr>
              <a:t>Gloves</a:t>
            </a:r>
          </a:p>
        </p:txBody>
      </p:sp>
      <p:sp>
        <p:nvSpPr>
          <p:cNvPr name="TextBox 13" id="13"/>
          <p:cNvSpPr txBox="true"/>
          <p:nvPr/>
        </p:nvSpPr>
        <p:spPr>
          <a:xfrm rot="0">
            <a:off x="1290933" y="3942455"/>
            <a:ext cx="1614192" cy="637438"/>
          </a:xfrm>
          <a:prstGeom prst="rect">
            <a:avLst/>
          </a:prstGeom>
        </p:spPr>
        <p:txBody>
          <a:bodyPr anchor="t" rtlCol="false" tIns="0" lIns="0" bIns="0" rIns="0">
            <a:spAutoFit/>
          </a:bodyPr>
          <a:lstStyle/>
          <a:p>
            <a:pPr algn="l">
              <a:lnSpc>
                <a:spcPts val="5000"/>
              </a:lnSpc>
            </a:pPr>
            <a:r>
              <a:rPr lang="en-US" sz="3975">
                <a:solidFill>
                  <a:srgbClr val="E9F2F7"/>
                </a:solidFill>
                <a:latin typeface="Cloud"/>
                <a:ea typeface="Cloud"/>
                <a:cs typeface="Cloud"/>
                <a:sym typeface="Cloud"/>
              </a:rPr>
              <a:t>3.86★</a:t>
            </a:r>
          </a:p>
        </p:txBody>
      </p:sp>
      <p:grpSp>
        <p:nvGrpSpPr>
          <p:cNvPr name="Group 14" id="14"/>
          <p:cNvGrpSpPr/>
          <p:nvPr/>
        </p:nvGrpSpPr>
        <p:grpSpPr>
          <a:xfrm rot="0">
            <a:off x="6545761" y="3231509"/>
            <a:ext cx="5278784" cy="1631452"/>
            <a:chOff x="0" y="0"/>
            <a:chExt cx="7038378" cy="2175269"/>
          </a:xfrm>
        </p:grpSpPr>
        <p:sp>
          <p:nvSpPr>
            <p:cNvPr name="Freeform 15" id="15"/>
            <p:cNvSpPr/>
            <p:nvPr/>
          </p:nvSpPr>
          <p:spPr>
            <a:xfrm flipH="false" flipV="false" rot="0">
              <a:off x="6350" y="6350"/>
              <a:ext cx="7025639" cy="2162556"/>
            </a:xfrm>
            <a:custGeom>
              <a:avLst/>
              <a:gdLst/>
              <a:ahLst/>
              <a:cxnLst/>
              <a:rect r="r" b="b" t="t" l="l"/>
              <a:pathLst>
                <a:path h="2162556" w="7025639">
                  <a:moveTo>
                    <a:pt x="0" y="138938"/>
                  </a:moveTo>
                  <a:cubicBezTo>
                    <a:pt x="0" y="62230"/>
                    <a:pt x="62484" y="0"/>
                    <a:pt x="139446" y="0"/>
                  </a:cubicBezTo>
                  <a:lnTo>
                    <a:pt x="6886194" y="0"/>
                  </a:lnTo>
                  <a:cubicBezTo>
                    <a:pt x="6963283" y="0"/>
                    <a:pt x="7025639" y="62230"/>
                    <a:pt x="7025639" y="138938"/>
                  </a:cubicBezTo>
                  <a:lnTo>
                    <a:pt x="7025639" y="2023618"/>
                  </a:lnTo>
                  <a:cubicBezTo>
                    <a:pt x="7025639" y="2100326"/>
                    <a:pt x="6963156" y="2162556"/>
                    <a:pt x="6886194" y="2162556"/>
                  </a:cubicBezTo>
                  <a:lnTo>
                    <a:pt x="139446" y="2162556"/>
                  </a:lnTo>
                  <a:cubicBezTo>
                    <a:pt x="62484" y="2162556"/>
                    <a:pt x="0" y="2100326"/>
                    <a:pt x="0" y="2023618"/>
                  </a:cubicBezTo>
                  <a:close/>
                </a:path>
              </a:pathLst>
            </a:custGeom>
            <a:solidFill>
              <a:srgbClr val="07488F"/>
            </a:solidFill>
            <a:ln w="12700">
              <a:solidFill>
                <a:srgbClr val="000000"/>
              </a:solidFill>
            </a:ln>
          </p:spPr>
        </p:sp>
        <p:sp>
          <p:nvSpPr>
            <p:cNvPr name="Freeform 16" id="16"/>
            <p:cNvSpPr/>
            <p:nvPr/>
          </p:nvSpPr>
          <p:spPr>
            <a:xfrm flipH="false" flipV="false" rot="0">
              <a:off x="0" y="0"/>
              <a:ext cx="7038339" cy="2175256"/>
            </a:xfrm>
            <a:custGeom>
              <a:avLst/>
              <a:gdLst/>
              <a:ahLst/>
              <a:cxnLst/>
              <a:rect r="r" b="b" t="t" l="l"/>
              <a:pathLst>
                <a:path h="2175256" w="7038339">
                  <a:moveTo>
                    <a:pt x="0" y="145288"/>
                  </a:moveTo>
                  <a:cubicBezTo>
                    <a:pt x="0" y="65024"/>
                    <a:pt x="65278" y="0"/>
                    <a:pt x="145796" y="0"/>
                  </a:cubicBezTo>
                  <a:lnTo>
                    <a:pt x="6892544" y="0"/>
                  </a:lnTo>
                  <a:lnTo>
                    <a:pt x="6892544" y="6350"/>
                  </a:lnTo>
                  <a:lnTo>
                    <a:pt x="6892544" y="0"/>
                  </a:lnTo>
                  <a:cubicBezTo>
                    <a:pt x="6973062" y="0"/>
                    <a:pt x="7038339" y="65024"/>
                    <a:pt x="7038339" y="145288"/>
                  </a:cubicBezTo>
                  <a:lnTo>
                    <a:pt x="7031989" y="145288"/>
                  </a:lnTo>
                  <a:lnTo>
                    <a:pt x="7038339" y="145288"/>
                  </a:lnTo>
                  <a:lnTo>
                    <a:pt x="7038339" y="2029968"/>
                  </a:lnTo>
                  <a:lnTo>
                    <a:pt x="7031989" y="2029968"/>
                  </a:lnTo>
                  <a:lnTo>
                    <a:pt x="7038339" y="2029968"/>
                  </a:lnTo>
                  <a:cubicBezTo>
                    <a:pt x="7038339" y="2110232"/>
                    <a:pt x="6973062" y="2175256"/>
                    <a:pt x="6892544" y="2175256"/>
                  </a:cubicBezTo>
                  <a:lnTo>
                    <a:pt x="6892544" y="2168906"/>
                  </a:lnTo>
                  <a:lnTo>
                    <a:pt x="6892544" y="2175256"/>
                  </a:lnTo>
                  <a:lnTo>
                    <a:pt x="145796" y="2175256"/>
                  </a:lnTo>
                  <a:lnTo>
                    <a:pt x="145796" y="2168906"/>
                  </a:lnTo>
                  <a:lnTo>
                    <a:pt x="145796" y="2175256"/>
                  </a:lnTo>
                  <a:cubicBezTo>
                    <a:pt x="65278" y="2175256"/>
                    <a:pt x="0" y="2110232"/>
                    <a:pt x="0" y="2029968"/>
                  </a:cubicBezTo>
                  <a:lnTo>
                    <a:pt x="0" y="145288"/>
                  </a:lnTo>
                  <a:lnTo>
                    <a:pt x="6350" y="145288"/>
                  </a:lnTo>
                  <a:lnTo>
                    <a:pt x="0" y="145288"/>
                  </a:lnTo>
                  <a:moveTo>
                    <a:pt x="12700" y="145288"/>
                  </a:moveTo>
                  <a:lnTo>
                    <a:pt x="12700" y="2029968"/>
                  </a:lnTo>
                  <a:lnTo>
                    <a:pt x="6350" y="2029968"/>
                  </a:lnTo>
                  <a:lnTo>
                    <a:pt x="12700" y="2029968"/>
                  </a:lnTo>
                  <a:cubicBezTo>
                    <a:pt x="12700" y="2103120"/>
                    <a:pt x="72263" y="2162556"/>
                    <a:pt x="145796" y="2162556"/>
                  </a:cubicBezTo>
                  <a:lnTo>
                    <a:pt x="6892544" y="2162556"/>
                  </a:lnTo>
                  <a:cubicBezTo>
                    <a:pt x="6966076" y="2162556"/>
                    <a:pt x="7025639" y="2103120"/>
                    <a:pt x="7025639" y="2029968"/>
                  </a:cubicBezTo>
                  <a:lnTo>
                    <a:pt x="7025639" y="145288"/>
                  </a:lnTo>
                  <a:cubicBezTo>
                    <a:pt x="7025640" y="72136"/>
                    <a:pt x="6966077" y="12700"/>
                    <a:pt x="6892544" y="12700"/>
                  </a:cubicBezTo>
                  <a:lnTo>
                    <a:pt x="145796" y="12700"/>
                  </a:lnTo>
                  <a:lnTo>
                    <a:pt x="145796" y="6350"/>
                  </a:lnTo>
                  <a:lnTo>
                    <a:pt x="145796" y="12700"/>
                  </a:lnTo>
                  <a:cubicBezTo>
                    <a:pt x="72263" y="12700"/>
                    <a:pt x="12700" y="72136"/>
                    <a:pt x="12700" y="145288"/>
                  </a:cubicBezTo>
                  <a:close/>
                </a:path>
              </a:pathLst>
            </a:custGeom>
            <a:solidFill>
              <a:srgbClr val="6135B7"/>
            </a:solidFill>
            <a:ln w="12700">
              <a:solidFill>
                <a:srgbClr val="000000"/>
              </a:solidFill>
            </a:ln>
          </p:spPr>
        </p:sp>
      </p:grpSp>
      <p:sp>
        <p:nvSpPr>
          <p:cNvPr name="TextBox 17" id="17"/>
          <p:cNvSpPr txBox="true"/>
          <p:nvPr/>
        </p:nvSpPr>
        <p:spPr>
          <a:xfrm rot="0">
            <a:off x="6807994" y="3474691"/>
            <a:ext cx="1470065" cy="418318"/>
          </a:xfrm>
          <a:prstGeom prst="rect">
            <a:avLst/>
          </a:prstGeom>
        </p:spPr>
        <p:txBody>
          <a:bodyPr anchor="t" rtlCol="false" tIns="0" lIns="0" bIns="0" rIns="0">
            <a:spAutoFit/>
          </a:bodyPr>
          <a:lstStyle/>
          <a:p>
            <a:pPr algn="l">
              <a:lnSpc>
                <a:spcPts val="3246"/>
              </a:lnSpc>
            </a:pPr>
            <a:r>
              <a:rPr lang="en-US" sz="2637">
                <a:solidFill>
                  <a:srgbClr val="E9F2F7"/>
                </a:solidFill>
                <a:latin typeface="Cloud"/>
                <a:ea typeface="Cloud"/>
                <a:cs typeface="Cloud"/>
                <a:sym typeface="Cloud"/>
              </a:rPr>
              <a:t>Sandals</a:t>
            </a:r>
          </a:p>
        </p:txBody>
      </p:sp>
      <p:sp>
        <p:nvSpPr>
          <p:cNvPr name="TextBox 18" id="18"/>
          <p:cNvSpPr txBox="true"/>
          <p:nvPr/>
        </p:nvSpPr>
        <p:spPr>
          <a:xfrm rot="0">
            <a:off x="6807994" y="3942455"/>
            <a:ext cx="1811655" cy="637438"/>
          </a:xfrm>
          <a:prstGeom prst="rect">
            <a:avLst/>
          </a:prstGeom>
        </p:spPr>
        <p:txBody>
          <a:bodyPr anchor="t" rtlCol="false" tIns="0" lIns="0" bIns="0" rIns="0">
            <a:spAutoFit/>
          </a:bodyPr>
          <a:lstStyle/>
          <a:p>
            <a:pPr algn="l">
              <a:lnSpc>
                <a:spcPts val="5000"/>
              </a:lnSpc>
            </a:pPr>
            <a:r>
              <a:rPr lang="en-US" sz="3975">
                <a:solidFill>
                  <a:srgbClr val="E9F2F7"/>
                </a:solidFill>
                <a:latin typeface="Cloud"/>
                <a:ea typeface="Cloud"/>
                <a:cs typeface="Cloud"/>
                <a:sym typeface="Cloud"/>
              </a:rPr>
              <a:t>3.84★</a:t>
            </a:r>
          </a:p>
        </p:txBody>
      </p:sp>
      <p:grpSp>
        <p:nvGrpSpPr>
          <p:cNvPr name="Group 19" id="19"/>
          <p:cNvGrpSpPr/>
          <p:nvPr/>
        </p:nvGrpSpPr>
        <p:grpSpPr>
          <a:xfrm rot="0">
            <a:off x="12062965" y="3231509"/>
            <a:ext cx="5278641" cy="1631452"/>
            <a:chOff x="0" y="0"/>
            <a:chExt cx="7038188" cy="2175269"/>
          </a:xfrm>
        </p:grpSpPr>
        <p:sp>
          <p:nvSpPr>
            <p:cNvPr name="Freeform 20" id="20"/>
            <p:cNvSpPr/>
            <p:nvPr/>
          </p:nvSpPr>
          <p:spPr>
            <a:xfrm flipH="false" flipV="false" rot="0">
              <a:off x="6350" y="6350"/>
              <a:ext cx="7025386" cy="2162556"/>
            </a:xfrm>
            <a:custGeom>
              <a:avLst/>
              <a:gdLst/>
              <a:ahLst/>
              <a:cxnLst/>
              <a:rect r="r" b="b" t="t" l="l"/>
              <a:pathLst>
                <a:path h="2162556" w="7025386">
                  <a:moveTo>
                    <a:pt x="0" y="138938"/>
                  </a:moveTo>
                  <a:cubicBezTo>
                    <a:pt x="0" y="62230"/>
                    <a:pt x="62484" y="0"/>
                    <a:pt x="139446" y="0"/>
                  </a:cubicBezTo>
                  <a:lnTo>
                    <a:pt x="6885940" y="0"/>
                  </a:lnTo>
                  <a:cubicBezTo>
                    <a:pt x="6963029" y="0"/>
                    <a:pt x="7025386" y="62230"/>
                    <a:pt x="7025386" y="138938"/>
                  </a:cubicBezTo>
                  <a:lnTo>
                    <a:pt x="7025386" y="2023618"/>
                  </a:lnTo>
                  <a:cubicBezTo>
                    <a:pt x="7025386" y="2100326"/>
                    <a:pt x="6962902" y="2162556"/>
                    <a:pt x="6885940" y="2162556"/>
                  </a:cubicBezTo>
                  <a:lnTo>
                    <a:pt x="139446" y="2162556"/>
                  </a:lnTo>
                  <a:cubicBezTo>
                    <a:pt x="62484" y="2162556"/>
                    <a:pt x="0" y="2100326"/>
                    <a:pt x="0" y="2023618"/>
                  </a:cubicBezTo>
                  <a:close/>
                </a:path>
              </a:pathLst>
            </a:custGeom>
            <a:solidFill>
              <a:srgbClr val="07488F"/>
            </a:solidFill>
            <a:ln w="12700">
              <a:solidFill>
                <a:srgbClr val="000000"/>
              </a:solidFill>
            </a:ln>
          </p:spPr>
        </p:sp>
        <p:sp>
          <p:nvSpPr>
            <p:cNvPr name="Freeform 21" id="21"/>
            <p:cNvSpPr/>
            <p:nvPr/>
          </p:nvSpPr>
          <p:spPr>
            <a:xfrm flipH="false" flipV="false" rot="0">
              <a:off x="0" y="0"/>
              <a:ext cx="7038086" cy="2175256"/>
            </a:xfrm>
            <a:custGeom>
              <a:avLst/>
              <a:gdLst/>
              <a:ahLst/>
              <a:cxnLst/>
              <a:rect r="r" b="b" t="t" l="l"/>
              <a:pathLst>
                <a:path h="2175256" w="7038086">
                  <a:moveTo>
                    <a:pt x="0" y="145288"/>
                  </a:moveTo>
                  <a:cubicBezTo>
                    <a:pt x="0" y="65024"/>
                    <a:pt x="65278" y="0"/>
                    <a:pt x="145796" y="0"/>
                  </a:cubicBezTo>
                  <a:lnTo>
                    <a:pt x="6892290" y="0"/>
                  </a:lnTo>
                  <a:lnTo>
                    <a:pt x="6892290" y="6350"/>
                  </a:lnTo>
                  <a:lnTo>
                    <a:pt x="6892290" y="0"/>
                  </a:lnTo>
                  <a:cubicBezTo>
                    <a:pt x="6972808" y="0"/>
                    <a:pt x="7038086" y="65024"/>
                    <a:pt x="7038086" y="145288"/>
                  </a:cubicBezTo>
                  <a:lnTo>
                    <a:pt x="7031736" y="145288"/>
                  </a:lnTo>
                  <a:lnTo>
                    <a:pt x="7038086" y="145288"/>
                  </a:lnTo>
                  <a:lnTo>
                    <a:pt x="7038086" y="2029968"/>
                  </a:lnTo>
                  <a:lnTo>
                    <a:pt x="7031736" y="2029968"/>
                  </a:lnTo>
                  <a:lnTo>
                    <a:pt x="7038086" y="2029968"/>
                  </a:lnTo>
                  <a:cubicBezTo>
                    <a:pt x="7038086" y="2110232"/>
                    <a:pt x="6972808" y="2175256"/>
                    <a:pt x="6892290" y="2175256"/>
                  </a:cubicBezTo>
                  <a:lnTo>
                    <a:pt x="6892290" y="2168906"/>
                  </a:lnTo>
                  <a:lnTo>
                    <a:pt x="6892290" y="2175256"/>
                  </a:lnTo>
                  <a:lnTo>
                    <a:pt x="145796" y="2175256"/>
                  </a:lnTo>
                  <a:lnTo>
                    <a:pt x="145796" y="2168906"/>
                  </a:lnTo>
                  <a:lnTo>
                    <a:pt x="145796" y="2175256"/>
                  </a:lnTo>
                  <a:cubicBezTo>
                    <a:pt x="65278" y="2175256"/>
                    <a:pt x="0" y="2110232"/>
                    <a:pt x="0" y="2029968"/>
                  </a:cubicBezTo>
                  <a:lnTo>
                    <a:pt x="0" y="145288"/>
                  </a:lnTo>
                  <a:lnTo>
                    <a:pt x="6350" y="145288"/>
                  </a:lnTo>
                  <a:lnTo>
                    <a:pt x="0" y="145288"/>
                  </a:lnTo>
                  <a:moveTo>
                    <a:pt x="12700" y="145288"/>
                  </a:moveTo>
                  <a:lnTo>
                    <a:pt x="12700" y="2029968"/>
                  </a:lnTo>
                  <a:lnTo>
                    <a:pt x="6350" y="2029968"/>
                  </a:lnTo>
                  <a:lnTo>
                    <a:pt x="12700" y="2029968"/>
                  </a:lnTo>
                  <a:cubicBezTo>
                    <a:pt x="12700" y="2103120"/>
                    <a:pt x="72263" y="2162556"/>
                    <a:pt x="145796" y="2162556"/>
                  </a:cubicBezTo>
                  <a:lnTo>
                    <a:pt x="6892290" y="2162556"/>
                  </a:lnTo>
                  <a:cubicBezTo>
                    <a:pt x="6965823" y="2162556"/>
                    <a:pt x="7025386" y="2103120"/>
                    <a:pt x="7025386" y="2029968"/>
                  </a:cubicBezTo>
                  <a:lnTo>
                    <a:pt x="7025386" y="145288"/>
                  </a:lnTo>
                  <a:cubicBezTo>
                    <a:pt x="7025513" y="72136"/>
                    <a:pt x="6965950" y="12700"/>
                    <a:pt x="6892290" y="12700"/>
                  </a:cubicBezTo>
                  <a:lnTo>
                    <a:pt x="145796" y="12700"/>
                  </a:lnTo>
                  <a:lnTo>
                    <a:pt x="145796" y="6350"/>
                  </a:lnTo>
                  <a:lnTo>
                    <a:pt x="145796" y="12700"/>
                  </a:lnTo>
                  <a:cubicBezTo>
                    <a:pt x="72263" y="12700"/>
                    <a:pt x="12700" y="72136"/>
                    <a:pt x="12700" y="145288"/>
                  </a:cubicBezTo>
                  <a:close/>
                </a:path>
              </a:pathLst>
            </a:custGeom>
            <a:solidFill>
              <a:srgbClr val="6135B7"/>
            </a:solidFill>
            <a:ln w="12700">
              <a:solidFill>
                <a:srgbClr val="000000"/>
              </a:solidFill>
            </a:ln>
          </p:spPr>
        </p:sp>
      </p:grpSp>
      <p:sp>
        <p:nvSpPr>
          <p:cNvPr name="TextBox 22" id="22"/>
          <p:cNvSpPr txBox="true"/>
          <p:nvPr/>
        </p:nvSpPr>
        <p:spPr>
          <a:xfrm rot="0">
            <a:off x="12325198" y="3474691"/>
            <a:ext cx="1265836" cy="418318"/>
          </a:xfrm>
          <a:prstGeom prst="rect">
            <a:avLst/>
          </a:prstGeom>
        </p:spPr>
        <p:txBody>
          <a:bodyPr anchor="t" rtlCol="false" tIns="0" lIns="0" bIns="0" rIns="0">
            <a:spAutoFit/>
          </a:bodyPr>
          <a:lstStyle/>
          <a:p>
            <a:pPr algn="l">
              <a:lnSpc>
                <a:spcPts val="3246"/>
              </a:lnSpc>
            </a:pPr>
            <a:r>
              <a:rPr lang="en-US" sz="2637">
                <a:solidFill>
                  <a:srgbClr val="E9F2F7"/>
                </a:solidFill>
                <a:latin typeface="Cloud"/>
                <a:ea typeface="Cloud"/>
                <a:cs typeface="Cloud"/>
                <a:sym typeface="Cloud"/>
              </a:rPr>
              <a:t>Boots</a:t>
            </a:r>
          </a:p>
        </p:txBody>
      </p:sp>
      <p:sp>
        <p:nvSpPr>
          <p:cNvPr name="TextBox 23" id="23"/>
          <p:cNvSpPr txBox="true"/>
          <p:nvPr/>
        </p:nvSpPr>
        <p:spPr>
          <a:xfrm rot="0">
            <a:off x="12325198" y="3942455"/>
            <a:ext cx="1763093" cy="637438"/>
          </a:xfrm>
          <a:prstGeom prst="rect">
            <a:avLst/>
          </a:prstGeom>
        </p:spPr>
        <p:txBody>
          <a:bodyPr anchor="t" rtlCol="false" tIns="0" lIns="0" bIns="0" rIns="0">
            <a:spAutoFit/>
          </a:bodyPr>
          <a:lstStyle/>
          <a:p>
            <a:pPr algn="l">
              <a:lnSpc>
                <a:spcPts val="5000"/>
              </a:lnSpc>
            </a:pPr>
            <a:r>
              <a:rPr lang="en-US" sz="3975">
                <a:solidFill>
                  <a:srgbClr val="E9F2F7"/>
                </a:solidFill>
                <a:latin typeface="Cloud"/>
                <a:ea typeface="Cloud"/>
                <a:cs typeface="Cloud"/>
                <a:sym typeface="Cloud"/>
              </a:rPr>
              <a:t>3.82★</a:t>
            </a:r>
          </a:p>
        </p:txBody>
      </p:sp>
      <p:grpSp>
        <p:nvGrpSpPr>
          <p:cNvPr name="Group 24" id="24"/>
          <p:cNvGrpSpPr/>
          <p:nvPr/>
        </p:nvGrpSpPr>
        <p:grpSpPr>
          <a:xfrm rot="0">
            <a:off x="1028700" y="5101380"/>
            <a:ext cx="8037166" cy="1631452"/>
            <a:chOff x="0" y="0"/>
            <a:chExt cx="10716222" cy="2175269"/>
          </a:xfrm>
        </p:grpSpPr>
        <p:sp>
          <p:nvSpPr>
            <p:cNvPr name="Freeform 25" id="25"/>
            <p:cNvSpPr/>
            <p:nvPr/>
          </p:nvSpPr>
          <p:spPr>
            <a:xfrm flipH="false" flipV="false" rot="0">
              <a:off x="6350" y="6350"/>
              <a:ext cx="10703560" cy="2162556"/>
            </a:xfrm>
            <a:custGeom>
              <a:avLst/>
              <a:gdLst/>
              <a:ahLst/>
              <a:cxnLst/>
              <a:rect r="r" b="b" t="t" l="l"/>
              <a:pathLst>
                <a:path h="2162556" w="10703560">
                  <a:moveTo>
                    <a:pt x="0" y="138938"/>
                  </a:moveTo>
                  <a:cubicBezTo>
                    <a:pt x="0" y="62230"/>
                    <a:pt x="62484" y="0"/>
                    <a:pt x="139573" y="0"/>
                  </a:cubicBezTo>
                  <a:lnTo>
                    <a:pt x="10563987" y="0"/>
                  </a:lnTo>
                  <a:cubicBezTo>
                    <a:pt x="10641076" y="0"/>
                    <a:pt x="10703560" y="62230"/>
                    <a:pt x="10703560" y="138938"/>
                  </a:cubicBezTo>
                  <a:lnTo>
                    <a:pt x="10703560" y="2023618"/>
                  </a:lnTo>
                  <a:cubicBezTo>
                    <a:pt x="10703560" y="2100326"/>
                    <a:pt x="10641076" y="2162556"/>
                    <a:pt x="10563987" y="2162556"/>
                  </a:cubicBezTo>
                  <a:lnTo>
                    <a:pt x="139573" y="2162556"/>
                  </a:lnTo>
                  <a:cubicBezTo>
                    <a:pt x="62484" y="2162556"/>
                    <a:pt x="0" y="2100326"/>
                    <a:pt x="0" y="2023618"/>
                  </a:cubicBezTo>
                  <a:close/>
                </a:path>
              </a:pathLst>
            </a:custGeom>
            <a:solidFill>
              <a:srgbClr val="07488F"/>
            </a:solidFill>
            <a:ln w="12700">
              <a:solidFill>
                <a:srgbClr val="000000"/>
              </a:solidFill>
            </a:ln>
          </p:spPr>
        </p:sp>
        <p:sp>
          <p:nvSpPr>
            <p:cNvPr name="Freeform 26" id="26"/>
            <p:cNvSpPr/>
            <p:nvPr/>
          </p:nvSpPr>
          <p:spPr>
            <a:xfrm flipH="false" flipV="false" rot="0">
              <a:off x="0" y="0"/>
              <a:ext cx="10716260" cy="2175256"/>
            </a:xfrm>
            <a:custGeom>
              <a:avLst/>
              <a:gdLst/>
              <a:ahLst/>
              <a:cxnLst/>
              <a:rect r="r" b="b" t="t" l="l"/>
              <a:pathLst>
                <a:path h="2175256" w="10716260">
                  <a:moveTo>
                    <a:pt x="0" y="145288"/>
                  </a:moveTo>
                  <a:cubicBezTo>
                    <a:pt x="0" y="65024"/>
                    <a:pt x="65405" y="0"/>
                    <a:pt x="145923" y="0"/>
                  </a:cubicBezTo>
                  <a:lnTo>
                    <a:pt x="10570337" y="0"/>
                  </a:lnTo>
                  <a:lnTo>
                    <a:pt x="10570337" y="6350"/>
                  </a:lnTo>
                  <a:lnTo>
                    <a:pt x="10570337" y="0"/>
                  </a:lnTo>
                  <a:cubicBezTo>
                    <a:pt x="10650855" y="0"/>
                    <a:pt x="10716260" y="65024"/>
                    <a:pt x="10716260" y="145288"/>
                  </a:cubicBezTo>
                  <a:lnTo>
                    <a:pt x="10709910" y="145288"/>
                  </a:lnTo>
                  <a:lnTo>
                    <a:pt x="10716260" y="145288"/>
                  </a:lnTo>
                  <a:lnTo>
                    <a:pt x="10716260" y="2029968"/>
                  </a:lnTo>
                  <a:lnTo>
                    <a:pt x="10709910" y="2029968"/>
                  </a:lnTo>
                  <a:lnTo>
                    <a:pt x="10716260" y="2029968"/>
                  </a:lnTo>
                  <a:cubicBezTo>
                    <a:pt x="10716260" y="2110232"/>
                    <a:pt x="10650855" y="2175256"/>
                    <a:pt x="10570337" y="2175256"/>
                  </a:cubicBezTo>
                  <a:lnTo>
                    <a:pt x="10570337" y="2168906"/>
                  </a:lnTo>
                  <a:lnTo>
                    <a:pt x="10570337" y="2175256"/>
                  </a:lnTo>
                  <a:lnTo>
                    <a:pt x="145923" y="2175256"/>
                  </a:lnTo>
                  <a:lnTo>
                    <a:pt x="145923" y="2168906"/>
                  </a:lnTo>
                  <a:lnTo>
                    <a:pt x="145923" y="2175256"/>
                  </a:lnTo>
                  <a:cubicBezTo>
                    <a:pt x="65405" y="2175256"/>
                    <a:pt x="0" y="2110232"/>
                    <a:pt x="0" y="2029968"/>
                  </a:cubicBezTo>
                  <a:lnTo>
                    <a:pt x="0" y="145288"/>
                  </a:lnTo>
                  <a:lnTo>
                    <a:pt x="6350" y="145288"/>
                  </a:lnTo>
                  <a:lnTo>
                    <a:pt x="0" y="145288"/>
                  </a:lnTo>
                  <a:moveTo>
                    <a:pt x="12700" y="145288"/>
                  </a:moveTo>
                  <a:lnTo>
                    <a:pt x="12700" y="2029968"/>
                  </a:lnTo>
                  <a:lnTo>
                    <a:pt x="6350" y="2029968"/>
                  </a:lnTo>
                  <a:lnTo>
                    <a:pt x="12700" y="2029968"/>
                  </a:lnTo>
                  <a:cubicBezTo>
                    <a:pt x="12700" y="2103120"/>
                    <a:pt x="72263" y="2162556"/>
                    <a:pt x="145923" y="2162556"/>
                  </a:cubicBezTo>
                  <a:lnTo>
                    <a:pt x="10570337" y="2162556"/>
                  </a:lnTo>
                  <a:cubicBezTo>
                    <a:pt x="10643997" y="2162556"/>
                    <a:pt x="10703560" y="2103120"/>
                    <a:pt x="10703560" y="2029968"/>
                  </a:cubicBezTo>
                  <a:lnTo>
                    <a:pt x="10703560" y="145288"/>
                  </a:lnTo>
                  <a:cubicBezTo>
                    <a:pt x="10703560" y="72136"/>
                    <a:pt x="10643870" y="12700"/>
                    <a:pt x="10570337" y="12700"/>
                  </a:cubicBezTo>
                  <a:lnTo>
                    <a:pt x="145923" y="12700"/>
                  </a:lnTo>
                  <a:lnTo>
                    <a:pt x="145923" y="6350"/>
                  </a:lnTo>
                  <a:lnTo>
                    <a:pt x="145923" y="12700"/>
                  </a:lnTo>
                  <a:cubicBezTo>
                    <a:pt x="72263" y="12700"/>
                    <a:pt x="12700" y="72136"/>
                    <a:pt x="12700" y="145288"/>
                  </a:cubicBezTo>
                  <a:close/>
                </a:path>
              </a:pathLst>
            </a:custGeom>
            <a:solidFill>
              <a:srgbClr val="6135B7"/>
            </a:solidFill>
            <a:ln w="12700">
              <a:solidFill>
                <a:srgbClr val="000000"/>
              </a:solidFill>
            </a:ln>
          </p:spPr>
        </p:sp>
      </p:grpSp>
      <p:sp>
        <p:nvSpPr>
          <p:cNvPr name="TextBox 27" id="27"/>
          <p:cNvSpPr txBox="true"/>
          <p:nvPr/>
        </p:nvSpPr>
        <p:spPr>
          <a:xfrm rot="0">
            <a:off x="1290933" y="5344563"/>
            <a:ext cx="884099" cy="418318"/>
          </a:xfrm>
          <a:prstGeom prst="rect">
            <a:avLst/>
          </a:prstGeom>
        </p:spPr>
        <p:txBody>
          <a:bodyPr anchor="t" rtlCol="false" tIns="0" lIns="0" bIns="0" rIns="0">
            <a:spAutoFit/>
          </a:bodyPr>
          <a:lstStyle/>
          <a:p>
            <a:pPr algn="l">
              <a:lnSpc>
                <a:spcPts val="3246"/>
              </a:lnSpc>
            </a:pPr>
            <a:r>
              <a:rPr lang="en-US" sz="2637">
                <a:solidFill>
                  <a:srgbClr val="E9F2F7"/>
                </a:solidFill>
                <a:latin typeface="Cloud"/>
                <a:ea typeface="Cloud"/>
                <a:cs typeface="Cloud"/>
                <a:sym typeface="Cloud"/>
              </a:rPr>
              <a:t>Hat</a:t>
            </a:r>
          </a:p>
        </p:txBody>
      </p:sp>
      <p:sp>
        <p:nvSpPr>
          <p:cNvPr name="TextBox 28" id="28"/>
          <p:cNvSpPr txBox="true"/>
          <p:nvPr/>
        </p:nvSpPr>
        <p:spPr>
          <a:xfrm rot="0">
            <a:off x="1290933" y="5812336"/>
            <a:ext cx="1614192" cy="637438"/>
          </a:xfrm>
          <a:prstGeom prst="rect">
            <a:avLst/>
          </a:prstGeom>
        </p:spPr>
        <p:txBody>
          <a:bodyPr anchor="t" rtlCol="false" tIns="0" lIns="0" bIns="0" rIns="0">
            <a:spAutoFit/>
          </a:bodyPr>
          <a:lstStyle/>
          <a:p>
            <a:pPr algn="l">
              <a:lnSpc>
                <a:spcPts val="5000"/>
              </a:lnSpc>
            </a:pPr>
            <a:r>
              <a:rPr lang="en-US" sz="3975">
                <a:solidFill>
                  <a:srgbClr val="E9F2F7"/>
                </a:solidFill>
                <a:latin typeface="Cloud"/>
                <a:ea typeface="Cloud"/>
                <a:cs typeface="Cloud"/>
                <a:sym typeface="Cloud"/>
              </a:rPr>
              <a:t>3.80★</a:t>
            </a:r>
          </a:p>
        </p:txBody>
      </p:sp>
      <p:grpSp>
        <p:nvGrpSpPr>
          <p:cNvPr name="Group 29" id="29"/>
          <p:cNvGrpSpPr/>
          <p:nvPr/>
        </p:nvGrpSpPr>
        <p:grpSpPr>
          <a:xfrm rot="0">
            <a:off x="9304287" y="5101380"/>
            <a:ext cx="8037309" cy="1631452"/>
            <a:chOff x="0" y="0"/>
            <a:chExt cx="10716412" cy="2175269"/>
          </a:xfrm>
        </p:grpSpPr>
        <p:sp>
          <p:nvSpPr>
            <p:cNvPr name="Freeform 30" id="30"/>
            <p:cNvSpPr/>
            <p:nvPr/>
          </p:nvSpPr>
          <p:spPr>
            <a:xfrm flipH="false" flipV="false" rot="0">
              <a:off x="6350" y="6350"/>
              <a:ext cx="10703687" cy="2162556"/>
            </a:xfrm>
            <a:custGeom>
              <a:avLst/>
              <a:gdLst/>
              <a:ahLst/>
              <a:cxnLst/>
              <a:rect r="r" b="b" t="t" l="l"/>
              <a:pathLst>
                <a:path h="2162556" w="10703687">
                  <a:moveTo>
                    <a:pt x="0" y="138938"/>
                  </a:moveTo>
                  <a:cubicBezTo>
                    <a:pt x="0" y="62230"/>
                    <a:pt x="62484" y="0"/>
                    <a:pt x="139573" y="0"/>
                  </a:cubicBezTo>
                  <a:lnTo>
                    <a:pt x="10564114" y="0"/>
                  </a:lnTo>
                  <a:cubicBezTo>
                    <a:pt x="10641203" y="0"/>
                    <a:pt x="10703687" y="62230"/>
                    <a:pt x="10703687" y="138938"/>
                  </a:cubicBezTo>
                  <a:lnTo>
                    <a:pt x="10703687" y="2023618"/>
                  </a:lnTo>
                  <a:cubicBezTo>
                    <a:pt x="10703687" y="2100326"/>
                    <a:pt x="10641203" y="2162556"/>
                    <a:pt x="10564114" y="2162556"/>
                  </a:cubicBezTo>
                  <a:lnTo>
                    <a:pt x="139573" y="2162556"/>
                  </a:lnTo>
                  <a:cubicBezTo>
                    <a:pt x="62484" y="2162556"/>
                    <a:pt x="0" y="2100326"/>
                    <a:pt x="0" y="2023618"/>
                  </a:cubicBezTo>
                  <a:close/>
                </a:path>
              </a:pathLst>
            </a:custGeom>
            <a:solidFill>
              <a:srgbClr val="07488F"/>
            </a:solidFill>
            <a:ln w="12700">
              <a:solidFill>
                <a:srgbClr val="000000"/>
              </a:solidFill>
            </a:ln>
          </p:spPr>
        </p:sp>
        <p:sp>
          <p:nvSpPr>
            <p:cNvPr name="Freeform 31" id="31"/>
            <p:cNvSpPr/>
            <p:nvPr/>
          </p:nvSpPr>
          <p:spPr>
            <a:xfrm flipH="false" flipV="false" rot="0">
              <a:off x="0" y="0"/>
              <a:ext cx="10716387" cy="2175256"/>
            </a:xfrm>
            <a:custGeom>
              <a:avLst/>
              <a:gdLst/>
              <a:ahLst/>
              <a:cxnLst/>
              <a:rect r="r" b="b" t="t" l="l"/>
              <a:pathLst>
                <a:path h="2175256" w="10716387">
                  <a:moveTo>
                    <a:pt x="0" y="145288"/>
                  </a:moveTo>
                  <a:cubicBezTo>
                    <a:pt x="0" y="65024"/>
                    <a:pt x="65405" y="0"/>
                    <a:pt x="145923" y="0"/>
                  </a:cubicBezTo>
                  <a:lnTo>
                    <a:pt x="10570464" y="0"/>
                  </a:lnTo>
                  <a:lnTo>
                    <a:pt x="10570464" y="6350"/>
                  </a:lnTo>
                  <a:lnTo>
                    <a:pt x="10570464" y="0"/>
                  </a:lnTo>
                  <a:cubicBezTo>
                    <a:pt x="10650982" y="0"/>
                    <a:pt x="10716387" y="65024"/>
                    <a:pt x="10716387" y="145288"/>
                  </a:cubicBezTo>
                  <a:lnTo>
                    <a:pt x="10710037" y="145288"/>
                  </a:lnTo>
                  <a:lnTo>
                    <a:pt x="10716387" y="145288"/>
                  </a:lnTo>
                  <a:lnTo>
                    <a:pt x="10716387" y="2029968"/>
                  </a:lnTo>
                  <a:lnTo>
                    <a:pt x="10710037" y="2029968"/>
                  </a:lnTo>
                  <a:lnTo>
                    <a:pt x="10716387" y="2029968"/>
                  </a:lnTo>
                  <a:cubicBezTo>
                    <a:pt x="10716387" y="2110232"/>
                    <a:pt x="10650982" y="2175256"/>
                    <a:pt x="10570464" y="2175256"/>
                  </a:cubicBezTo>
                  <a:lnTo>
                    <a:pt x="10570464" y="2168906"/>
                  </a:lnTo>
                  <a:lnTo>
                    <a:pt x="10570464" y="2175256"/>
                  </a:lnTo>
                  <a:lnTo>
                    <a:pt x="145923" y="2175256"/>
                  </a:lnTo>
                  <a:lnTo>
                    <a:pt x="145923" y="2168906"/>
                  </a:lnTo>
                  <a:lnTo>
                    <a:pt x="145923" y="2175256"/>
                  </a:lnTo>
                  <a:cubicBezTo>
                    <a:pt x="65405" y="2175256"/>
                    <a:pt x="0" y="2110232"/>
                    <a:pt x="0" y="2029968"/>
                  </a:cubicBezTo>
                  <a:lnTo>
                    <a:pt x="0" y="145288"/>
                  </a:lnTo>
                  <a:lnTo>
                    <a:pt x="6350" y="145288"/>
                  </a:lnTo>
                  <a:lnTo>
                    <a:pt x="0" y="145288"/>
                  </a:lnTo>
                  <a:moveTo>
                    <a:pt x="12700" y="145288"/>
                  </a:moveTo>
                  <a:lnTo>
                    <a:pt x="12700" y="2029968"/>
                  </a:lnTo>
                  <a:lnTo>
                    <a:pt x="6350" y="2029968"/>
                  </a:lnTo>
                  <a:lnTo>
                    <a:pt x="12700" y="2029968"/>
                  </a:lnTo>
                  <a:cubicBezTo>
                    <a:pt x="12700" y="2103120"/>
                    <a:pt x="72263" y="2162556"/>
                    <a:pt x="145923" y="2162556"/>
                  </a:cubicBezTo>
                  <a:lnTo>
                    <a:pt x="10570464" y="2162556"/>
                  </a:lnTo>
                  <a:cubicBezTo>
                    <a:pt x="10644124" y="2162556"/>
                    <a:pt x="10703687" y="2103120"/>
                    <a:pt x="10703687" y="2029968"/>
                  </a:cubicBezTo>
                  <a:lnTo>
                    <a:pt x="10703687" y="145288"/>
                  </a:lnTo>
                  <a:cubicBezTo>
                    <a:pt x="10703687" y="72136"/>
                    <a:pt x="10644124" y="12700"/>
                    <a:pt x="10570464" y="12700"/>
                  </a:cubicBezTo>
                  <a:lnTo>
                    <a:pt x="145923" y="12700"/>
                  </a:lnTo>
                  <a:lnTo>
                    <a:pt x="145923" y="6350"/>
                  </a:lnTo>
                  <a:lnTo>
                    <a:pt x="145923" y="12700"/>
                  </a:lnTo>
                  <a:cubicBezTo>
                    <a:pt x="72263" y="12700"/>
                    <a:pt x="12700" y="72136"/>
                    <a:pt x="12700" y="145288"/>
                  </a:cubicBezTo>
                  <a:close/>
                </a:path>
              </a:pathLst>
            </a:custGeom>
            <a:solidFill>
              <a:srgbClr val="6135B7"/>
            </a:solidFill>
            <a:ln w="12700">
              <a:solidFill>
                <a:srgbClr val="000000"/>
              </a:solidFill>
            </a:ln>
          </p:spPr>
        </p:sp>
      </p:grpSp>
      <p:sp>
        <p:nvSpPr>
          <p:cNvPr name="TextBox 32" id="32"/>
          <p:cNvSpPr txBox="true"/>
          <p:nvPr/>
        </p:nvSpPr>
        <p:spPr>
          <a:xfrm rot="0">
            <a:off x="9566519" y="5344563"/>
            <a:ext cx="1016117" cy="418318"/>
          </a:xfrm>
          <a:prstGeom prst="rect">
            <a:avLst/>
          </a:prstGeom>
        </p:spPr>
        <p:txBody>
          <a:bodyPr anchor="t" rtlCol="false" tIns="0" lIns="0" bIns="0" rIns="0">
            <a:spAutoFit/>
          </a:bodyPr>
          <a:lstStyle/>
          <a:p>
            <a:pPr algn="l">
              <a:lnSpc>
                <a:spcPts val="3246"/>
              </a:lnSpc>
            </a:pPr>
            <a:r>
              <a:rPr lang="en-US" sz="2637">
                <a:solidFill>
                  <a:srgbClr val="E9F2F7"/>
                </a:solidFill>
                <a:latin typeface="Cloud"/>
                <a:ea typeface="Cloud"/>
                <a:cs typeface="Cloud"/>
                <a:sym typeface="Cloud"/>
              </a:rPr>
              <a:t>Skirt</a:t>
            </a:r>
          </a:p>
        </p:txBody>
      </p:sp>
      <p:sp>
        <p:nvSpPr>
          <p:cNvPr name="TextBox 33" id="33"/>
          <p:cNvSpPr txBox="true"/>
          <p:nvPr/>
        </p:nvSpPr>
        <p:spPr>
          <a:xfrm rot="0">
            <a:off x="9566519" y="5812336"/>
            <a:ext cx="1714255" cy="637438"/>
          </a:xfrm>
          <a:prstGeom prst="rect">
            <a:avLst/>
          </a:prstGeom>
        </p:spPr>
        <p:txBody>
          <a:bodyPr anchor="t" rtlCol="false" tIns="0" lIns="0" bIns="0" rIns="0">
            <a:spAutoFit/>
          </a:bodyPr>
          <a:lstStyle/>
          <a:p>
            <a:pPr algn="l">
              <a:lnSpc>
                <a:spcPts val="5000"/>
              </a:lnSpc>
            </a:pPr>
            <a:r>
              <a:rPr lang="en-US" sz="3975">
                <a:solidFill>
                  <a:srgbClr val="E9F2F7"/>
                </a:solidFill>
                <a:latin typeface="Cloud"/>
                <a:ea typeface="Cloud"/>
                <a:cs typeface="Cloud"/>
                <a:sym typeface="Cloud"/>
              </a:rPr>
              <a:t>3.78★</a:t>
            </a:r>
          </a:p>
        </p:txBody>
      </p:sp>
      <p:sp>
        <p:nvSpPr>
          <p:cNvPr name="TextBox 34" id="34"/>
          <p:cNvSpPr txBox="true"/>
          <p:nvPr/>
        </p:nvSpPr>
        <p:spPr>
          <a:xfrm rot="0">
            <a:off x="1808871" y="6856657"/>
            <a:ext cx="14670258" cy="1165225"/>
          </a:xfrm>
          <a:prstGeom prst="rect">
            <a:avLst/>
          </a:prstGeom>
        </p:spPr>
        <p:txBody>
          <a:bodyPr anchor="t" rtlCol="false" tIns="0" lIns="0" bIns="0" rIns="0">
            <a:spAutoFit/>
          </a:bodyPr>
          <a:lstStyle/>
          <a:p>
            <a:pPr algn="l">
              <a:lnSpc>
                <a:spcPts val="3125"/>
              </a:lnSpc>
            </a:pPr>
            <a:r>
              <a:rPr lang="en-US" sz="1937">
                <a:solidFill>
                  <a:srgbClr val="0C3571"/>
                </a:solidFill>
                <a:latin typeface="Cloud"/>
                <a:ea typeface="Cloud"/>
                <a:cs typeface="Cloud"/>
                <a:sym typeface="Cloud"/>
              </a:rPr>
              <a:t>These top performers represent our strongest product portfolio and should be prominently featured in marketing campaigns. The exceptional ratings for blouses and dresses suggest these items drive customer satisfaction and potentially encourage repeat purchases. Understanding what makes these products successful can inform future product development and inventory decisions.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9F2F7"/>
        </a:solidFill>
      </p:bgPr>
    </p:bg>
    <p:spTree>
      <p:nvGrpSpPr>
        <p:cNvPr id="1" name=""/>
        <p:cNvGrpSpPr/>
        <p:nvPr/>
      </p:nvGrpSpPr>
      <p:grpSpPr>
        <a:xfrm>
          <a:off x="0" y="0"/>
          <a:ext cx="0" cy="0"/>
          <a:chOff x="0" y="0"/>
          <a:chExt cx="0" cy="0"/>
        </a:xfrm>
      </p:grpSpPr>
      <p:sp>
        <p:nvSpPr>
          <p:cNvPr name="Freeform 2" id="2"/>
          <p:cNvSpPr/>
          <p:nvPr/>
        </p:nvSpPr>
        <p:spPr>
          <a:xfrm flipH="false" flipV="false" rot="0">
            <a:off x="-624614" y="6515100"/>
            <a:ext cx="7059478" cy="4114800"/>
          </a:xfrm>
          <a:custGeom>
            <a:avLst/>
            <a:gdLst/>
            <a:ahLst/>
            <a:cxnLst/>
            <a:rect r="r" b="b" t="t" l="l"/>
            <a:pathLst>
              <a:path h="4114800" w="7059478">
                <a:moveTo>
                  <a:pt x="0" y="0"/>
                </a:moveTo>
                <a:lnTo>
                  <a:pt x="7059478" y="0"/>
                </a:lnTo>
                <a:lnTo>
                  <a:pt x="705947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1924574" y="-357188"/>
            <a:ext cx="7059478" cy="4114800"/>
          </a:xfrm>
          <a:custGeom>
            <a:avLst/>
            <a:gdLst/>
            <a:ahLst/>
            <a:cxnLst/>
            <a:rect r="r" b="b" t="t" l="l"/>
            <a:pathLst>
              <a:path h="4114800" w="7059478">
                <a:moveTo>
                  <a:pt x="7059477" y="4114800"/>
                </a:moveTo>
                <a:lnTo>
                  <a:pt x="0" y="4114800"/>
                </a:lnTo>
                <a:lnTo>
                  <a:pt x="0" y="0"/>
                </a:lnTo>
                <a:lnTo>
                  <a:pt x="7059477" y="0"/>
                </a:lnTo>
                <a:lnTo>
                  <a:pt x="7059477"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002168">
            <a:off x="-1455983" y="-3415755"/>
            <a:ext cx="5987226" cy="5998131"/>
          </a:xfrm>
          <a:custGeom>
            <a:avLst/>
            <a:gdLst/>
            <a:ahLst/>
            <a:cxnLst/>
            <a:rect r="r" b="b" t="t" l="l"/>
            <a:pathLst>
              <a:path h="5998131" w="5987226">
                <a:moveTo>
                  <a:pt x="0" y="0"/>
                </a:moveTo>
                <a:lnTo>
                  <a:pt x="5987226" y="0"/>
                </a:lnTo>
                <a:lnTo>
                  <a:pt x="5987226" y="5998131"/>
                </a:lnTo>
                <a:lnTo>
                  <a:pt x="0" y="59981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002168">
            <a:off x="14265687" y="7630834"/>
            <a:ext cx="5987226" cy="5998131"/>
          </a:xfrm>
          <a:custGeom>
            <a:avLst/>
            <a:gdLst/>
            <a:ahLst/>
            <a:cxnLst/>
            <a:rect r="r" b="b" t="t" l="l"/>
            <a:pathLst>
              <a:path h="5998131" w="5987226">
                <a:moveTo>
                  <a:pt x="5987226" y="5998132"/>
                </a:moveTo>
                <a:lnTo>
                  <a:pt x="0" y="5998132"/>
                </a:lnTo>
                <a:lnTo>
                  <a:pt x="0" y="0"/>
                </a:lnTo>
                <a:lnTo>
                  <a:pt x="5987226" y="0"/>
                </a:lnTo>
                <a:lnTo>
                  <a:pt x="5987226" y="599813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7488824">
            <a:off x="-221065" y="7727724"/>
            <a:ext cx="3071030" cy="5804353"/>
          </a:xfrm>
          <a:custGeom>
            <a:avLst/>
            <a:gdLst/>
            <a:ahLst/>
            <a:cxnLst/>
            <a:rect r="r" b="b" t="t" l="l"/>
            <a:pathLst>
              <a:path h="5804353" w="3071030">
                <a:moveTo>
                  <a:pt x="0" y="0"/>
                </a:moveTo>
                <a:lnTo>
                  <a:pt x="3071030" y="0"/>
                </a:lnTo>
                <a:lnTo>
                  <a:pt x="3071030" y="5804352"/>
                </a:lnTo>
                <a:lnTo>
                  <a:pt x="0" y="5804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7488824">
            <a:off x="17178162" y="-1873476"/>
            <a:ext cx="3071030" cy="5804353"/>
          </a:xfrm>
          <a:custGeom>
            <a:avLst/>
            <a:gdLst/>
            <a:ahLst/>
            <a:cxnLst/>
            <a:rect r="r" b="b" t="t" l="l"/>
            <a:pathLst>
              <a:path h="5804353" w="3071030">
                <a:moveTo>
                  <a:pt x="0" y="0"/>
                </a:moveTo>
                <a:lnTo>
                  <a:pt x="3071030" y="0"/>
                </a:lnTo>
                <a:lnTo>
                  <a:pt x="3071030" y="5804352"/>
                </a:lnTo>
                <a:lnTo>
                  <a:pt x="0" y="5804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descr="preencoded.png"/>
          <p:cNvSpPr/>
          <p:nvPr/>
        </p:nvSpPr>
        <p:spPr>
          <a:xfrm flipH="false" flipV="false" rot="0">
            <a:off x="4810791" y="2039842"/>
            <a:ext cx="3163043" cy="3163043"/>
          </a:xfrm>
          <a:custGeom>
            <a:avLst/>
            <a:gdLst/>
            <a:ahLst/>
            <a:cxnLst/>
            <a:rect r="r" b="b" t="t" l="l"/>
            <a:pathLst>
              <a:path h="3163043" w="3163043">
                <a:moveTo>
                  <a:pt x="0" y="0"/>
                </a:moveTo>
                <a:lnTo>
                  <a:pt x="3163043" y="0"/>
                </a:lnTo>
                <a:lnTo>
                  <a:pt x="3163043" y="3163043"/>
                </a:lnTo>
                <a:lnTo>
                  <a:pt x="0" y="3163043"/>
                </a:lnTo>
                <a:lnTo>
                  <a:pt x="0" y="0"/>
                </a:lnTo>
                <a:close/>
              </a:path>
            </a:pathLst>
          </a:custGeom>
          <a:blipFill>
            <a:blip r:embed="rId8"/>
            <a:stretch>
              <a:fillRect l="0" t="0" r="0" b="0"/>
            </a:stretch>
          </a:blipFill>
        </p:spPr>
      </p:sp>
      <p:sp>
        <p:nvSpPr>
          <p:cNvPr name="Freeform 9" id="9" descr="preencoded.png"/>
          <p:cNvSpPr/>
          <p:nvPr/>
        </p:nvSpPr>
        <p:spPr>
          <a:xfrm flipH="false" flipV="false" rot="0">
            <a:off x="10314166" y="2039842"/>
            <a:ext cx="3163043" cy="3163043"/>
          </a:xfrm>
          <a:custGeom>
            <a:avLst/>
            <a:gdLst/>
            <a:ahLst/>
            <a:cxnLst/>
            <a:rect r="r" b="b" t="t" l="l"/>
            <a:pathLst>
              <a:path h="3163043" w="3163043">
                <a:moveTo>
                  <a:pt x="0" y="0"/>
                </a:moveTo>
                <a:lnTo>
                  <a:pt x="3163043" y="0"/>
                </a:lnTo>
                <a:lnTo>
                  <a:pt x="3163043" y="3163043"/>
                </a:lnTo>
                <a:lnTo>
                  <a:pt x="0" y="3163043"/>
                </a:lnTo>
                <a:lnTo>
                  <a:pt x="0" y="0"/>
                </a:lnTo>
                <a:close/>
              </a:path>
            </a:pathLst>
          </a:custGeom>
          <a:blipFill>
            <a:blip r:embed="rId9"/>
            <a:stretch>
              <a:fillRect l="0" t="0" r="0" b="0"/>
            </a:stretch>
          </a:blipFill>
        </p:spPr>
      </p:sp>
      <p:grpSp>
        <p:nvGrpSpPr>
          <p:cNvPr name="Group 10" id="10"/>
          <p:cNvGrpSpPr/>
          <p:nvPr/>
        </p:nvGrpSpPr>
        <p:grpSpPr>
          <a:xfrm rot="0">
            <a:off x="3305009" y="6699520"/>
            <a:ext cx="13780741" cy="1233335"/>
            <a:chOff x="0" y="0"/>
            <a:chExt cx="18374322" cy="1644447"/>
          </a:xfrm>
        </p:grpSpPr>
        <p:sp>
          <p:nvSpPr>
            <p:cNvPr name="Freeform 11" id="11"/>
            <p:cNvSpPr/>
            <p:nvPr/>
          </p:nvSpPr>
          <p:spPr>
            <a:xfrm flipH="false" flipV="false" rot="0">
              <a:off x="0" y="0"/>
              <a:ext cx="18374361" cy="1644523"/>
            </a:xfrm>
            <a:custGeom>
              <a:avLst/>
              <a:gdLst/>
              <a:ahLst/>
              <a:cxnLst/>
              <a:rect r="r" b="b" t="t" l="l"/>
              <a:pathLst>
                <a:path h="1644523" w="18374361">
                  <a:moveTo>
                    <a:pt x="0" y="118110"/>
                  </a:moveTo>
                  <a:cubicBezTo>
                    <a:pt x="0" y="52832"/>
                    <a:pt x="52832" y="0"/>
                    <a:pt x="118110" y="0"/>
                  </a:cubicBezTo>
                  <a:lnTo>
                    <a:pt x="18256250" y="0"/>
                  </a:lnTo>
                  <a:cubicBezTo>
                    <a:pt x="18321528" y="0"/>
                    <a:pt x="18374361" y="52832"/>
                    <a:pt x="18374361" y="118110"/>
                  </a:cubicBezTo>
                  <a:lnTo>
                    <a:pt x="18374361" y="1526413"/>
                  </a:lnTo>
                  <a:cubicBezTo>
                    <a:pt x="18374361" y="1591691"/>
                    <a:pt x="18321528" y="1644523"/>
                    <a:pt x="18256250" y="1644523"/>
                  </a:cubicBezTo>
                  <a:lnTo>
                    <a:pt x="118110" y="1644523"/>
                  </a:lnTo>
                  <a:cubicBezTo>
                    <a:pt x="52832" y="1644523"/>
                    <a:pt x="0" y="1591691"/>
                    <a:pt x="0" y="1526413"/>
                  </a:cubicBezTo>
                  <a:close/>
                </a:path>
              </a:pathLst>
            </a:custGeom>
            <a:solidFill>
              <a:srgbClr val="0C3571"/>
            </a:solidFill>
            <a:ln w="12700">
              <a:solidFill>
                <a:srgbClr val="000000"/>
              </a:solidFill>
            </a:ln>
          </p:spPr>
        </p:sp>
      </p:grpSp>
      <p:sp>
        <p:nvSpPr>
          <p:cNvPr name="Freeform 12" id="12" descr="preencoded.png"/>
          <p:cNvSpPr/>
          <p:nvPr/>
        </p:nvSpPr>
        <p:spPr>
          <a:xfrm flipH="false" flipV="false" rot="0">
            <a:off x="3506224" y="6877218"/>
            <a:ext cx="474316" cy="379237"/>
          </a:xfrm>
          <a:custGeom>
            <a:avLst/>
            <a:gdLst/>
            <a:ahLst/>
            <a:cxnLst/>
            <a:rect r="r" b="b" t="t" l="l"/>
            <a:pathLst>
              <a:path h="379237" w="474316">
                <a:moveTo>
                  <a:pt x="0" y="0"/>
                </a:moveTo>
                <a:lnTo>
                  <a:pt x="474317" y="0"/>
                </a:lnTo>
                <a:lnTo>
                  <a:pt x="474317" y="379237"/>
                </a:lnTo>
                <a:lnTo>
                  <a:pt x="0" y="379237"/>
                </a:lnTo>
                <a:lnTo>
                  <a:pt x="0" y="0"/>
                </a:lnTo>
                <a:close/>
              </a:path>
            </a:pathLst>
          </a:custGeom>
          <a:blipFill>
            <a:blip r:embed="rId10"/>
            <a:stretch>
              <a:fillRect l="-881" t="0" r="-878" b="0"/>
            </a:stretch>
          </a:blipFill>
        </p:spPr>
      </p:sp>
      <p:grpSp>
        <p:nvGrpSpPr>
          <p:cNvPr name="Group 13" id="13"/>
          <p:cNvGrpSpPr/>
          <p:nvPr/>
        </p:nvGrpSpPr>
        <p:grpSpPr>
          <a:xfrm rot="0">
            <a:off x="5529857" y="2809657"/>
            <a:ext cx="1724911" cy="172491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F2F7"/>
            </a:solidFill>
          </p:spPr>
        </p:sp>
        <p:sp>
          <p:nvSpPr>
            <p:cNvPr name="TextBox 15" id="15"/>
            <p:cNvSpPr txBox="true"/>
            <p:nvPr/>
          </p:nvSpPr>
          <p:spPr>
            <a:xfrm>
              <a:off x="76200" y="47625"/>
              <a:ext cx="660400" cy="688975"/>
            </a:xfrm>
            <a:prstGeom prst="rect">
              <a:avLst/>
            </a:prstGeom>
          </p:spPr>
          <p:txBody>
            <a:bodyPr anchor="ctr" rtlCol="false" tIns="50800" lIns="50800" bIns="50800" rIns="50800"/>
            <a:lstStyle/>
            <a:p>
              <a:pPr algn="ctr">
                <a:lnSpc>
                  <a:spcPts val="4307"/>
                </a:lnSpc>
              </a:pPr>
              <a:r>
                <a:rPr lang="en-US" sz="3500">
                  <a:solidFill>
                    <a:srgbClr val="0D0A2C"/>
                  </a:solidFill>
                  <a:latin typeface="Cloud"/>
                  <a:ea typeface="Cloud"/>
                  <a:cs typeface="Cloud"/>
                  <a:sym typeface="Cloud"/>
                </a:rPr>
                <a:t>$65</a:t>
              </a:r>
            </a:p>
          </p:txBody>
        </p:sp>
      </p:grpSp>
      <p:sp>
        <p:nvSpPr>
          <p:cNvPr name="TextBox 16" id="16"/>
          <p:cNvSpPr txBox="true"/>
          <p:nvPr/>
        </p:nvSpPr>
        <p:spPr>
          <a:xfrm rot="0">
            <a:off x="1290933" y="3474691"/>
            <a:ext cx="990362" cy="399659"/>
          </a:xfrm>
          <a:prstGeom prst="rect">
            <a:avLst/>
          </a:prstGeom>
        </p:spPr>
        <p:txBody>
          <a:bodyPr anchor="t" rtlCol="false" tIns="0" lIns="0" bIns="0" rIns="0">
            <a:spAutoFit/>
          </a:bodyPr>
          <a:lstStyle/>
          <a:p>
            <a:pPr algn="l">
              <a:lnSpc>
                <a:spcPts val="3123"/>
              </a:lnSpc>
            </a:pPr>
            <a:r>
              <a:rPr lang="en-US" sz="2537">
                <a:solidFill>
                  <a:srgbClr val="E9F2F7"/>
                </a:solidFill>
                <a:latin typeface="Cloud"/>
                <a:ea typeface="Cloud"/>
                <a:cs typeface="Cloud"/>
                <a:sym typeface="Cloud"/>
              </a:rPr>
              <a:t>Gloves</a:t>
            </a:r>
          </a:p>
        </p:txBody>
      </p:sp>
      <p:sp>
        <p:nvSpPr>
          <p:cNvPr name="TextBox 17" id="17"/>
          <p:cNvSpPr txBox="true"/>
          <p:nvPr/>
        </p:nvSpPr>
        <p:spPr>
          <a:xfrm rot="0">
            <a:off x="1290933" y="3942455"/>
            <a:ext cx="1470065" cy="637438"/>
          </a:xfrm>
          <a:prstGeom prst="rect">
            <a:avLst/>
          </a:prstGeom>
        </p:spPr>
        <p:txBody>
          <a:bodyPr anchor="t" rtlCol="false" tIns="0" lIns="0" bIns="0" rIns="0">
            <a:spAutoFit/>
          </a:bodyPr>
          <a:lstStyle/>
          <a:p>
            <a:pPr algn="l">
              <a:lnSpc>
                <a:spcPts val="5000"/>
              </a:lnSpc>
            </a:pPr>
            <a:r>
              <a:rPr lang="en-US" sz="3975">
                <a:solidFill>
                  <a:srgbClr val="E9F2F7"/>
                </a:solidFill>
                <a:latin typeface="Cloud"/>
                <a:ea typeface="Cloud"/>
                <a:cs typeface="Cloud"/>
                <a:sym typeface="Cloud"/>
              </a:rPr>
              <a:t>3.86★</a:t>
            </a:r>
          </a:p>
        </p:txBody>
      </p:sp>
      <p:sp>
        <p:nvSpPr>
          <p:cNvPr name="TextBox 18" id="18"/>
          <p:cNvSpPr txBox="true"/>
          <p:nvPr/>
        </p:nvSpPr>
        <p:spPr>
          <a:xfrm rot="0">
            <a:off x="1290933" y="5344563"/>
            <a:ext cx="493395" cy="399659"/>
          </a:xfrm>
          <a:prstGeom prst="rect">
            <a:avLst/>
          </a:prstGeom>
        </p:spPr>
        <p:txBody>
          <a:bodyPr anchor="t" rtlCol="false" tIns="0" lIns="0" bIns="0" rIns="0">
            <a:spAutoFit/>
          </a:bodyPr>
          <a:lstStyle/>
          <a:p>
            <a:pPr algn="l">
              <a:lnSpc>
                <a:spcPts val="3123"/>
              </a:lnSpc>
            </a:pPr>
            <a:r>
              <a:rPr lang="en-US" sz="2537">
                <a:solidFill>
                  <a:srgbClr val="E9F2F7"/>
                </a:solidFill>
                <a:latin typeface="Cloud"/>
                <a:ea typeface="Cloud"/>
                <a:cs typeface="Cloud"/>
                <a:sym typeface="Cloud"/>
              </a:rPr>
              <a:t>Hat</a:t>
            </a:r>
          </a:p>
        </p:txBody>
      </p:sp>
      <p:sp>
        <p:nvSpPr>
          <p:cNvPr name="TextBox 19" id="19"/>
          <p:cNvSpPr txBox="true"/>
          <p:nvPr/>
        </p:nvSpPr>
        <p:spPr>
          <a:xfrm rot="0">
            <a:off x="1290933" y="5812336"/>
            <a:ext cx="1470065" cy="637438"/>
          </a:xfrm>
          <a:prstGeom prst="rect">
            <a:avLst/>
          </a:prstGeom>
        </p:spPr>
        <p:txBody>
          <a:bodyPr anchor="t" rtlCol="false" tIns="0" lIns="0" bIns="0" rIns="0">
            <a:spAutoFit/>
          </a:bodyPr>
          <a:lstStyle/>
          <a:p>
            <a:pPr algn="l">
              <a:lnSpc>
                <a:spcPts val="5000"/>
              </a:lnSpc>
            </a:pPr>
            <a:r>
              <a:rPr lang="en-US" sz="3975">
                <a:solidFill>
                  <a:srgbClr val="E9F2F7"/>
                </a:solidFill>
                <a:latin typeface="Cloud"/>
                <a:ea typeface="Cloud"/>
                <a:cs typeface="Cloud"/>
                <a:sym typeface="Cloud"/>
              </a:rPr>
              <a:t>3.80★</a:t>
            </a:r>
          </a:p>
        </p:txBody>
      </p:sp>
      <p:sp>
        <p:nvSpPr>
          <p:cNvPr name="TextBox 20" id="20"/>
          <p:cNvSpPr txBox="true"/>
          <p:nvPr/>
        </p:nvSpPr>
        <p:spPr>
          <a:xfrm rot="0">
            <a:off x="4339926" y="1256752"/>
            <a:ext cx="9608147" cy="564008"/>
          </a:xfrm>
          <a:prstGeom prst="rect">
            <a:avLst/>
          </a:prstGeom>
        </p:spPr>
        <p:txBody>
          <a:bodyPr anchor="t" rtlCol="false" tIns="0" lIns="0" bIns="0" rIns="0">
            <a:spAutoFit/>
          </a:bodyPr>
          <a:lstStyle/>
          <a:p>
            <a:pPr algn="l">
              <a:lnSpc>
                <a:spcPts val="4429"/>
              </a:lnSpc>
            </a:pPr>
            <a:r>
              <a:rPr lang="en-US" b="true" sz="3522">
                <a:solidFill>
                  <a:srgbClr val="0C3571"/>
                </a:solidFill>
                <a:latin typeface="Anantason Bold"/>
                <a:ea typeface="Anantason Bold"/>
                <a:cs typeface="Anantason Bold"/>
                <a:sym typeface="Anantason Bold"/>
              </a:rPr>
              <a:t>Shipping Preferences Impact Purchase Value</a:t>
            </a:r>
          </a:p>
        </p:txBody>
      </p:sp>
      <p:sp>
        <p:nvSpPr>
          <p:cNvPr name="TextBox 21" id="21"/>
          <p:cNvSpPr txBox="true"/>
          <p:nvPr/>
        </p:nvSpPr>
        <p:spPr>
          <a:xfrm rot="0">
            <a:off x="5362362" y="5412435"/>
            <a:ext cx="2279671" cy="331787"/>
          </a:xfrm>
          <a:prstGeom prst="rect">
            <a:avLst/>
          </a:prstGeom>
        </p:spPr>
        <p:txBody>
          <a:bodyPr anchor="t" rtlCol="false" tIns="0" lIns="0" bIns="0" rIns="0">
            <a:spAutoFit/>
          </a:bodyPr>
          <a:lstStyle/>
          <a:p>
            <a:pPr algn="ctr">
              <a:lnSpc>
                <a:spcPts val="2562"/>
              </a:lnSpc>
            </a:pPr>
            <a:r>
              <a:rPr lang="en-US" b="true" sz="2062">
                <a:solidFill>
                  <a:srgbClr val="0C3571"/>
                </a:solidFill>
                <a:latin typeface="Cloud Bold"/>
                <a:ea typeface="Cloud Bold"/>
                <a:cs typeface="Cloud Bold"/>
                <a:sym typeface="Cloud Bold"/>
              </a:rPr>
              <a:t>Express Shipping</a:t>
            </a:r>
          </a:p>
        </p:txBody>
      </p:sp>
      <p:sp>
        <p:nvSpPr>
          <p:cNvPr name="TextBox 22" id="22"/>
          <p:cNvSpPr txBox="true"/>
          <p:nvPr/>
        </p:nvSpPr>
        <p:spPr>
          <a:xfrm rot="0">
            <a:off x="3777460" y="5687072"/>
            <a:ext cx="5314809" cy="657225"/>
          </a:xfrm>
          <a:prstGeom prst="rect">
            <a:avLst/>
          </a:prstGeom>
        </p:spPr>
        <p:txBody>
          <a:bodyPr anchor="t" rtlCol="false" tIns="0" lIns="0" bIns="0" rIns="0">
            <a:spAutoFit/>
          </a:bodyPr>
          <a:lstStyle/>
          <a:p>
            <a:pPr algn="ctr">
              <a:lnSpc>
                <a:spcPts val="2625"/>
              </a:lnSpc>
            </a:pPr>
            <a:r>
              <a:rPr lang="en-US" sz="1625">
                <a:solidFill>
                  <a:srgbClr val="0C3571"/>
                </a:solidFill>
                <a:latin typeface="Cloud"/>
                <a:ea typeface="Cloud"/>
                <a:cs typeface="Cloud"/>
                <a:sym typeface="Cloud"/>
              </a:rPr>
              <a:t>Average purchase amount for customers selecting expedited delivery options</a:t>
            </a:r>
          </a:p>
        </p:txBody>
      </p:sp>
      <p:sp>
        <p:nvSpPr>
          <p:cNvPr name="TextBox 23" id="23"/>
          <p:cNvSpPr txBox="true"/>
          <p:nvPr/>
        </p:nvSpPr>
        <p:spPr>
          <a:xfrm rot="0">
            <a:off x="10693432" y="5431485"/>
            <a:ext cx="2462284" cy="331787"/>
          </a:xfrm>
          <a:prstGeom prst="rect">
            <a:avLst/>
          </a:prstGeom>
        </p:spPr>
        <p:txBody>
          <a:bodyPr anchor="t" rtlCol="false" tIns="0" lIns="0" bIns="0" rIns="0">
            <a:spAutoFit/>
          </a:bodyPr>
          <a:lstStyle/>
          <a:p>
            <a:pPr algn="ctr">
              <a:lnSpc>
                <a:spcPts val="2562"/>
              </a:lnSpc>
            </a:pPr>
            <a:r>
              <a:rPr lang="en-US" b="true" sz="2062">
                <a:solidFill>
                  <a:srgbClr val="0C3571"/>
                </a:solidFill>
                <a:latin typeface="Cloud Bold"/>
                <a:ea typeface="Cloud Bold"/>
                <a:cs typeface="Cloud Bold"/>
                <a:sym typeface="Cloud Bold"/>
              </a:rPr>
              <a:t>Standard Shipping</a:t>
            </a:r>
          </a:p>
        </p:txBody>
      </p:sp>
      <p:sp>
        <p:nvSpPr>
          <p:cNvPr name="TextBox 24" id="24"/>
          <p:cNvSpPr txBox="true"/>
          <p:nvPr/>
        </p:nvSpPr>
        <p:spPr>
          <a:xfrm rot="0">
            <a:off x="9544155" y="5668022"/>
            <a:ext cx="5139196" cy="657225"/>
          </a:xfrm>
          <a:prstGeom prst="rect">
            <a:avLst/>
          </a:prstGeom>
        </p:spPr>
        <p:txBody>
          <a:bodyPr anchor="t" rtlCol="false" tIns="0" lIns="0" bIns="0" rIns="0">
            <a:spAutoFit/>
          </a:bodyPr>
          <a:lstStyle/>
          <a:p>
            <a:pPr algn="ctr">
              <a:lnSpc>
                <a:spcPts val="2625"/>
              </a:lnSpc>
            </a:pPr>
            <a:r>
              <a:rPr lang="en-US" sz="1625">
                <a:solidFill>
                  <a:srgbClr val="0C3571"/>
                </a:solidFill>
                <a:latin typeface="Cloud"/>
                <a:ea typeface="Cloud"/>
                <a:cs typeface="Cloud"/>
                <a:sym typeface="Cloud"/>
              </a:rPr>
              <a:t>Average purchase amount for customers choosing regular delivery timeframes</a:t>
            </a:r>
          </a:p>
        </p:txBody>
      </p:sp>
      <p:sp>
        <p:nvSpPr>
          <p:cNvPr name="TextBox 25" id="25"/>
          <p:cNvSpPr txBox="true"/>
          <p:nvPr/>
        </p:nvSpPr>
        <p:spPr>
          <a:xfrm rot="0">
            <a:off x="4083967" y="6877218"/>
            <a:ext cx="12730071" cy="759305"/>
          </a:xfrm>
          <a:prstGeom prst="rect">
            <a:avLst/>
          </a:prstGeom>
        </p:spPr>
        <p:txBody>
          <a:bodyPr anchor="t" rtlCol="false" tIns="0" lIns="0" bIns="0" rIns="0">
            <a:spAutoFit/>
          </a:bodyPr>
          <a:lstStyle/>
          <a:p>
            <a:pPr algn="l">
              <a:lnSpc>
                <a:spcPts val="3043"/>
              </a:lnSpc>
            </a:pPr>
            <a:r>
              <a:rPr lang="en-US" sz="1883" b="true">
                <a:solidFill>
                  <a:srgbClr val="FFFFFF"/>
                </a:solidFill>
                <a:latin typeface="Heebo Bold"/>
                <a:ea typeface="Heebo Bold"/>
                <a:cs typeface="Heebo Bold"/>
                <a:sym typeface="Heebo Bold"/>
              </a:rPr>
              <a:t>Key Finding:</a:t>
            </a:r>
            <a:r>
              <a:rPr lang="en-US" sz="1883">
                <a:solidFill>
                  <a:srgbClr val="FFFFFF"/>
                </a:solidFill>
                <a:latin typeface="Heebo Light"/>
                <a:ea typeface="Heebo Light"/>
                <a:cs typeface="Heebo Light"/>
                <a:sym typeface="Heebo Light"/>
              </a:rPr>
              <a:t> Express shipping customers spend </a:t>
            </a:r>
            <a:r>
              <a:rPr lang="en-US" sz="1883">
                <a:solidFill>
                  <a:srgbClr val="DCD7E5"/>
                </a:solidFill>
                <a:latin typeface="Heebo Light"/>
                <a:ea typeface="Heebo Light"/>
                <a:cs typeface="Heebo Light"/>
                <a:sym typeface="Heebo Light"/>
              </a:rPr>
              <a:t>12% more per transaction</a:t>
            </a:r>
            <a:r>
              <a:rPr lang="en-US" sz="1883">
                <a:solidFill>
                  <a:srgbClr val="FFFFFF"/>
                </a:solidFill>
                <a:latin typeface="Heebo Light"/>
                <a:ea typeface="Heebo Light"/>
                <a:cs typeface="Heebo Light"/>
                <a:sym typeface="Heebo Light"/>
              </a:rPr>
              <a:t>, suggesting this segment has higher urgency, greater purchasing power, or both.</a:t>
            </a:r>
          </a:p>
        </p:txBody>
      </p:sp>
      <p:sp>
        <p:nvSpPr>
          <p:cNvPr name="TextBox 26" id="26"/>
          <p:cNvSpPr txBox="true"/>
          <p:nvPr/>
        </p:nvSpPr>
        <p:spPr>
          <a:xfrm rot="0">
            <a:off x="3305009" y="8103419"/>
            <a:ext cx="13780741" cy="597144"/>
          </a:xfrm>
          <a:prstGeom prst="rect">
            <a:avLst/>
          </a:prstGeom>
        </p:spPr>
        <p:txBody>
          <a:bodyPr anchor="t" rtlCol="false" tIns="0" lIns="0" bIns="0" rIns="0">
            <a:spAutoFit/>
          </a:bodyPr>
          <a:lstStyle/>
          <a:p>
            <a:pPr algn="ctr">
              <a:lnSpc>
                <a:spcPts val="2423"/>
              </a:lnSpc>
            </a:pPr>
            <a:r>
              <a:rPr lang="en-US" sz="1500">
                <a:solidFill>
                  <a:srgbClr val="0C3571"/>
                </a:solidFill>
                <a:latin typeface="Cloud"/>
                <a:ea typeface="Cloud"/>
                <a:cs typeface="Cloud"/>
                <a:sym typeface="Cloud"/>
              </a:rPr>
              <a:t>This spending differential reveals that shipping preferences serve as a strong indicator of customer value. Express shipping users may represent time-sensitive shoppers with higher disposable income, making them prime candidates for premium product offerings and exclusive early-access promotions.</a:t>
            </a:r>
          </a:p>
        </p:txBody>
      </p:sp>
      <p:grpSp>
        <p:nvGrpSpPr>
          <p:cNvPr name="Group 27" id="27"/>
          <p:cNvGrpSpPr/>
          <p:nvPr/>
        </p:nvGrpSpPr>
        <p:grpSpPr>
          <a:xfrm rot="0">
            <a:off x="11126609" y="2865098"/>
            <a:ext cx="1543050" cy="1543050"/>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F2F7"/>
            </a:solidFill>
          </p:spPr>
        </p:sp>
        <p:sp>
          <p:nvSpPr>
            <p:cNvPr name="TextBox 29" id="29"/>
            <p:cNvSpPr txBox="true"/>
            <p:nvPr/>
          </p:nvSpPr>
          <p:spPr>
            <a:xfrm>
              <a:off x="76200" y="47625"/>
              <a:ext cx="660400" cy="688975"/>
            </a:xfrm>
            <a:prstGeom prst="rect">
              <a:avLst/>
            </a:prstGeom>
          </p:spPr>
          <p:txBody>
            <a:bodyPr anchor="ctr" rtlCol="false" tIns="50800" lIns="50800" bIns="50800" rIns="50800"/>
            <a:lstStyle/>
            <a:p>
              <a:pPr algn="ctr">
                <a:lnSpc>
                  <a:spcPts val="4307"/>
                </a:lnSpc>
              </a:pPr>
              <a:r>
                <a:rPr lang="en-US" sz="3500">
                  <a:solidFill>
                    <a:srgbClr val="0D0A2C"/>
                  </a:solidFill>
                  <a:latin typeface="Cloud"/>
                  <a:ea typeface="Cloud"/>
                  <a:cs typeface="Cloud"/>
                  <a:sym typeface="Cloud"/>
                </a:rPr>
                <a:t>$58</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9F2F7"/>
        </a:solidFill>
      </p:bgPr>
    </p:bg>
    <p:spTree>
      <p:nvGrpSpPr>
        <p:cNvPr id="1" name=""/>
        <p:cNvGrpSpPr/>
        <p:nvPr/>
      </p:nvGrpSpPr>
      <p:grpSpPr>
        <a:xfrm>
          <a:off x="0" y="0"/>
          <a:ext cx="0" cy="0"/>
          <a:chOff x="0" y="0"/>
          <a:chExt cx="0" cy="0"/>
        </a:xfrm>
      </p:grpSpPr>
      <p:sp>
        <p:nvSpPr>
          <p:cNvPr name="Freeform 2" id="2"/>
          <p:cNvSpPr/>
          <p:nvPr/>
        </p:nvSpPr>
        <p:spPr>
          <a:xfrm flipH="false" flipV="false" rot="0">
            <a:off x="-624614" y="6515100"/>
            <a:ext cx="7059478" cy="4114800"/>
          </a:xfrm>
          <a:custGeom>
            <a:avLst/>
            <a:gdLst/>
            <a:ahLst/>
            <a:cxnLst/>
            <a:rect r="r" b="b" t="t" l="l"/>
            <a:pathLst>
              <a:path h="4114800" w="7059478">
                <a:moveTo>
                  <a:pt x="0" y="0"/>
                </a:moveTo>
                <a:lnTo>
                  <a:pt x="7059478" y="0"/>
                </a:lnTo>
                <a:lnTo>
                  <a:pt x="705947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1924574" y="-357188"/>
            <a:ext cx="7059478" cy="4114800"/>
          </a:xfrm>
          <a:custGeom>
            <a:avLst/>
            <a:gdLst/>
            <a:ahLst/>
            <a:cxnLst/>
            <a:rect r="r" b="b" t="t" l="l"/>
            <a:pathLst>
              <a:path h="4114800" w="7059478">
                <a:moveTo>
                  <a:pt x="7059477" y="4114800"/>
                </a:moveTo>
                <a:lnTo>
                  <a:pt x="0" y="4114800"/>
                </a:lnTo>
                <a:lnTo>
                  <a:pt x="0" y="0"/>
                </a:lnTo>
                <a:lnTo>
                  <a:pt x="7059477" y="0"/>
                </a:lnTo>
                <a:lnTo>
                  <a:pt x="7059477"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002168">
            <a:off x="-1455983" y="-3415755"/>
            <a:ext cx="5987226" cy="5998131"/>
          </a:xfrm>
          <a:custGeom>
            <a:avLst/>
            <a:gdLst/>
            <a:ahLst/>
            <a:cxnLst/>
            <a:rect r="r" b="b" t="t" l="l"/>
            <a:pathLst>
              <a:path h="5998131" w="5987226">
                <a:moveTo>
                  <a:pt x="0" y="0"/>
                </a:moveTo>
                <a:lnTo>
                  <a:pt x="5987226" y="0"/>
                </a:lnTo>
                <a:lnTo>
                  <a:pt x="5987226" y="5998131"/>
                </a:lnTo>
                <a:lnTo>
                  <a:pt x="0" y="59981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002168">
            <a:off x="14265687" y="7630834"/>
            <a:ext cx="5987226" cy="5998131"/>
          </a:xfrm>
          <a:custGeom>
            <a:avLst/>
            <a:gdLst/>
            <a:ahLst/>
            <a:cxnLst/>
            <a:rect r="r" b="b" t="t" l="l"/>
            <a:pathLst>
              <a:path h="5998131" w="5987226">
                <a:moveTo>
                  <a:pt x="5987226" y="5998132"/>
                </a:moveTo>
                <a:lnTo>
                  <a:pt x="0" y="5998132"/>
                </a:lnTo>
                <a:lnTo>
                  <a:pt x="0" y="0"/>
                </a:lnTo>
                <a:lnTo>
                  <a:pt x="5987226" y="0"/>
                </a:lnTo>
                <a:lnTo>
                  <a:pt x="5987226" y="599813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7488824">
            <a:off x="-221065" y="7727724"/>
            <a:ext cx="3071030" cy="5804353"/>
          </a:xfrm>
          <a:custGeom>
            <a:avLst/>
            <a:gdLst/>
            <a:ahLst/>
            <a:cxnLst/>
            <a:rect r="r" b="b" t="t" l="l"/>
            <a:pathLst>
              <a:path h="5804353" w="3071030">
                <a:moveTo>
                  <a:pt x="0" y="0"/>
                </a:moveTo>
                <a:lnTo>
                  <a:pt x="3071030" y="0"/>
                </a:lnTo>
                <a:lnTo>
                  <a:pt x="3071030" y="5804352"/>
                </a:lnTo>
                <a:lnTo>
                  <a:pt x="0" y="5804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7488824">
            <a:off x="17178162" y="-1873476"/>
            <a:ext cx="3071030" cy="5804353"/>
          </a:xfrm>
          <a:custGeom>
            <a:avLst/>
            <a:gdLst/>
            <a:ahLst/>
            <a:cxnLst/>
            <a:rect r="r" b="b" t="t" l="l"/>
            <a:pathLst>
              <a:path h="5804353" w="3071030">
                <a:moveTo>
                  <a:pt x="0" y="0"/>
                </a:moveTo>
                <a:lnTo>
                  <a:pt x="3071030" y="0"/>
                </a:lnTo>
                <a:lnTo>
                  <a:pt x="3071030" y="5804352"/>
                </a:lnTo>
                <a:lnTo>
                  <a:pt x="0" y="5804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4567935" y="1294526"/>
            <a:ext cx="9152130" cy="579328"/>
          </a:xfrm>
          <a:prstGeom prst="rect">
            <a:avLst/>
          </a:prstGeom>
        </p:spPr>
        <p:txBody>
          <a:bodyPr anchor="t" rtlCol="false" tIns="0" lIns="0" bIns="0" rIns="0">
            <a:spAutoFit/>
          </a:bodyPr>
          <a:lstStyle/>
          <a:p>
            <a:pPr algn="l">
              <a:lnSpc>
                <a:spcPts val="4696"/>
              </a:lnSpc>
            </a:pPr>
            <a:r>
              <a:rPr lang="en-US" b="true" sz="3777">
                <a:solidFill>
                  <a:srgbClr val="0C3571"/>
                </a:solidFill>
                <a:latin typeface="Anantason Bold"/>
                <a:ea typeface="Anantason Bold"/>
                <a:cs typeface="Anantason Bold"/>
                <a:sym typeface="Anantason Bold"/>
              </a:rPr>
              <a:t>Subscription Impact on Customer Value</a:t>
            </a:r>
          </a:p>
        </p:txBody>
      </p:sp>
      <p:sp>
        <p:nvSpPr>
          <p:cNvPr name="Freeform 9" id="9" descr="preencoded.png"/>
          <p:cNvSpPr/>
          <p:nvPr/>
        </p:nvSpPr>
        <p:spPr>
          <a:xfrm flipH="false" flipV="false" rot="0">
            <a:off x="1575149" y="2150078"/>
            <a:ext cx="3326681" cy="3326681"/>
          </a:xfrm>
          <a:custGeom>
            <a:avLst/>
            <a:gdLst/>
            <a:ahLst/>
            <a:cxnLst/>
            <a:rect r="r" b="b" t="t" l="l"/>
            <a:pathLst>
              <a:path h="3326681" w="3326681">
                <a:moveTo>
                  <a:pt x="0" y="0"/>
                </a:moveTo>
                <a:lnTo>
                  <a:pt x="3326681" y="0"/>
                </a:lnTo>
                <a:lnTo>
                  <a:pt x="3326681" y="3326682"/>
                </a:lnTo>
                <a:lnTo>
                  <a:pt x="0" y="3326682"/>
                </a:lnTo>
                <a:lnTo>
                  <a:pt x="0" y="0"/>
                </a:lnTo>
                <a:close/>
              </a:path>
            </a:pathLst>
          </a:custGeom>
          <a:blipFill>
            <a:blip r:embed="rId8"/>
            <a:stretch>
              <a:fillRect l="0" t="0" r="0" b="0"/>
            </a:stretch>
          </a:blipFill>
        </p:spPr>
      </p:sp>
      <p:sp>
        <p:nvSpPr>
          <p:cNvPr name="TextBox 10" id="10"/>
          <p:cNvSpPr txBox="true"/>
          <p:nvPr/>
        </p:nvSpPr>
        <p:spPr>
          <a:xfrm rot="0">
            <a:off x="1575149" y="5740714"/>
            <a:ext cx="2078653" cy="349609"/>
          </a:xfrm>
          <a:prstGeom prst="rect">
            <a:avLst/>
          </a:prstGeom>
        </p:spPr>
        <p:txBody>
          <a:bodyPr anchor="t" rtlCol="false" tIns="0" lIns="0" bIns="0" rIns="0">
            <a:spAutoFit/>
          </a:bodyPr>
          <a:lstStyle/>
          <a:p>
            <a:pPr algn="l">
              <a:lnSpc>
                <a:spcPts val="2793"/>
              </a:lnSpc>
            </a:pPr>
            <a:r>
              <a:rPr lang="en-US" b="true" sz="2247">
                <a:solidFill>
                  <a:srgbClr val="0C3571"/>
                </a:solidFill>
                <a:latin typeface="Cloud Bold"/>
                <a:ea typeface="Cloud Bold"/>
                <a:cs typeface="Cloud Bold"/>
                <a:sym typeface="Cloud Bold"/>
              </a:rPr>
              <a:t>Higher Spend</a:t>
            </a:r>
          </a:p>
        </p:txBody>
      </p:sp>
      <p:sp>
        <p:nvSpPr>
          <p:cNvPr name="TextBox 11" id="11"/>
          <p:cNvSpPr txBox="true"/>
          <p:nvPr/>
        </p:nvSpPr>
        <p:spPr>
          <a:xfrm rot="0">
            <a:off x="1575149" y="6147320"/>
            <a:ext cx="4863590" cy="1357887"/>
          </a:xfrm>
          <a:prstGeom prst="rect">
            <a:avLst/>
          </a:prstGeom>
        </p:spPr>
        <p:txBody>
          <a:bodyPr anchor="t" rtlCol="false" tIns="0" lIns="0" bIns="0" rIns="0">
            <a:spAutoFit/>
          </a:bodyPr>
          <a:lstStyle/>
          <a:p>
            <a:pPr algn="l">
              <a:lnSpc>
                <a:spcPts val="2727"/>
              </a:lnSpc>
            </a:pPr>
            <a:r>
              <a:rPr lang="en-US" sz="1682">
                <a:solidFill>
                  <a:srgbClr val="0C3571"/>
                </a:solidFill>
                <a:latin typeface="Cloud"/>
                <a:ea typeface="Cloud"/>
                <a:cs typeface="Cloud"/>
                <a:sym typeface="Cloud"/>
              </a:rPr>
              <a:t>Subscription customers demonstrate significantly elevated spending patterns compared to non-subscribers, indicating stronger engagement and commitment to the brand</a:t>
            </a:r>
          </a:p>
        </p:txBody>
      </p:sp>
      <p:sp>
        <p:nvSpPr>
          <p:cNvPr name="Freeform 12" id="12" descr="preencoded.png"/>
          <p:cNvSpPr/>
          <p:nvPr/>
        </p:nvSpPr>
        <p:spPr>
          <a:xfrm flipH="false" flipV="false" rot="0">
            <a:off x="6712201" y="2150078"/>
            <a:ext cx="3326681" cy="3326681"/>
          </a:xfrm>
          <a:custGeom>
            <a:avLst/>
            <a:gdLst/>
            <a:ahLst/>
            <a:cxnLst/>
            <a:rect r="r" b="b" t="t" l="l"/>
            <a:pathLst>
              <a:path h="3326681" w="3326681">
                <a:moveTo>
                  <a:pt x="0" y="0"/>
                </a:moveTo>
                <a:lnTo>
                  <a:pt x="3326681" y="0"/>
                </a:lnTo>
                <a:lnTo>
                  <a:pt x="3326681" y="3326682"/>
                </a:lnTo>
                <a:lnTo>
                  <a:pt x="0" y="3326682"/>
                </a:lnTo>
                <a:lnTo>
                  <a:pt x="0" y="0"/>
                </a:lnTo>
                <a:close/>
              </a:path>
            </a:pathLst>
          </a:custGeom>
          <a:blipFill>
            <a:blip r:embed="rId9"/>
            <a:stretch>
              <a:fillRect l="0" t="0" r="0" b="0"/>
            </a:stretch>
          </a:blipFill>
        </p:spPr>
      </p:sp>
      <p:sp>
        <p:nvSpPr>
          <p:cNvPr name="TextBox 13" id="13"/>
          <p:cNvSpPr txBox="true"/>
          <p:nvPr/>
        </p:nvSpPr>
        <p:spPr>
          <a:xfrm rot="0">
            <a:off x="6712201" y="5740714"/>
            <a:ext cx="2295283" cy="349609"/>
          </a:xfrm>
          <a:prstGeom prst="rect">
            <a:avLst/>
          </a:prstGeom>
        </p:spPr>
        <p:txBody>
          <a:bodyPr anchor="t" rtlCol="false" tIns="0" lIns="0" bIns="0" rIns="0">
            <a:spAutoFit/>
          </a:bodyPr>
          <a:lstStyle/>
          <a:p>
            <a:pPr algn="l">
              <a:lnSpc>
                <a:spcPts val="2793"/>
              </a:lnSpc>
            </a:pPr>
            <a:r>
              <a:rPr lang="en-US" b="true" sz="2247">
                <a:solidFill>
                  <a:srgbClr val="0C3571"/>
                </a:solidFill>
                <a:latin typeface="Cloud Bold"/>
                <a:ea typeface="Cloud Bold"/>
                <a:cs typeface="Cloud Bold"/>
                <a:sym typeface="Cloud Bold"/>
              </a:rPr>
              <a:t>Revenue Share</a:t>
            </a:r>
          </a:p>
        </p:txBody>
      </p:sp>
      <p:sp>
        <p:nvSpPr>
          <p:cNvPr name="TextBox 14" id="14"/>
          <p:cNvSpPr txBox="true"/>
          <p:nvPr/>
        </p:nvSpPr>
        <p:spPr>
          <a:xfrm rot="0">
            <a:off x="6712201" y="6147320"/>
            <a:ext cx="4863590" cy="1357887"/>
          </a:xfrm>
          <a:prstGeom prst="rect">
            <a:avLst/>
          </a:prstGeom>
        </p:spPr>
        <p:txBody>
          <a:bodyPr anchor="t" rtlCol="false" tIns="0" lIns="0" bIns="0" rIns="0">
            <a:spAutoFit/>
          </a:bodyPr>
          <a:lstStyle/>
          <a:p>
            <a:pPr algn="l">
              <a:lnSpc>
                <a:spcPts val="2727"/>
              </a:lnSpc>
            </a:pPr>
            <a:r>
              <a:rPr lang="en-US" sz="1682">
                <a:solidFill>
                  <a:srgbClr val="0C3571"/>
                </a:solidFill>
                <a:latin typeface="Cloud"/>
                <a:ea typeface="Cloud"/>
                <a:cs typeface="Cloud"/>
                <a:sym typeface="Cloud"/>
              </a:rPr>
              <a:t>Subscribers contribute a disproportionately large share of total revenue relative to their customer base size, making them critical to business performance</a:t>
            </a:r>
          </a:p>
        </p:txBody>
      </p:sp>
      <p:sp>
        <p:nvSpPr>
          <p:cNvPr name="Freeform 15" id="15" descr="preencoded.png"/>
          <p:cNvSpPr/>
          <p:nvPr/>
        </p:nvSpPr>
        <p:spPr>
          <a:xfrm flipH="false" flipV="false" rot="0">
            <a:off x="11849261" y="2150078"/>
            <a:ext cx="3326681" cy="3326681"/>
          </a:xfrm>
          <a:custGeom>
            <a:avLst/>
            <a:gdLst/>
            <a:ahLst/>
            <a:cxnLst/>
            <a:rect r="r" b="b" t="t" l="l"/>
            <a:pathLst>
              <a:path h="3326681" w="3326681">
                <a:moveTo>
                  <a:pt x="0" y="0"/>
                </a:moveTo>
                <a:lnTo>
                  <a:pt x="3326681" y="0"/>
                </a:lnTo>
                <a:lnTo>
                  <a:pt x="3326681" y="3326682"/>
                </a:lnTo>
                <a:lnTo>
                  <a:pt x="0" y="3326682"/>
                </a:lnTo>
                <a:lnTo>
                  <a:pt x="0" y="0"/>
                </a:lnTo>
                <a:close/>
              </a:path>
            </a:pathLst>
          </a:custGeom>
          <a:blipFill>
            <a:blip r:embed="rId10"/>
            <a:stretch>
              <a:fillRect l="0" t="0" r="0" b="0"/>
            </a:stretch>
          </a:blipFill>
        </p:spPr>
      </p:sp>
      <p:sp>
        <p:nvSpPr>
          <p:cNvPr name="TextBox 16" id="16"/>
          <p:cNvSpPr txBox="true"/>
          <p:nvPr/>
        </p:nvSpPr>
        <p:spPr>
          <a:xfrm rot="0">
            <a:off x="11849261" y="5740714"/>
            <a:ext cx="1870804" cy="349609"/>
          </a:xfrm>
          <a:prstGeom prst="rect">
            <a:avLst/>
          </a:prstGeom>
        </p:spPr>
        <p:txBody>
          <a:bodyPr anchor="t" rtlCol="false" tIns="0" lIns="0" bIns="0" rIns="0">
            <a:spAutoFit/>
          </a:bodyPr>
          <a:lstStyle/>
          <a:p>
            <a:pPr algn="l">
              <a:lnSpc>
                <a:spcPts val="2793"/>
              </a:lnSpc>
            </a:pPr>
            <a:r>
              <a:rPr lang="en-US" b="true" sz="2247">
                <a:solidFill>
                  <a:srgbClr val="0C3571"/>
                </a:solidFill>
                <a:latin typeface="Cloud Bold"/>
                <a:ea typeface="Cloud Bold"/>
                <a:cs typeface="Cloud Bold"/>
                <a:sym typeface="Cloud Bold"/>
              </a:rPr>
              <a:t>Loyalty Rate</a:t>
            </a:r>
          </a:p>
        </p:txBody>
      </p:sp>
      <p:sp>
        <p:nvSpPr>
          <p:cNvPr name="TextBox 17" id="17"/>
          <p:cNvSpPr txBox="true"/>
          <p:nvPr/>
        </p:nvSpPr>
        <p:spPr>
          <a:xfrm rot="0">
            <a:off x="11849261" y="6147320"/>
            <a:ext cx="4863590" cy="1014987"/>
          </a:xfrm>
          <a:prstGeom prst="rect">
            <a:avLst/>
          </a:prstGeom>
        </p:spPr>
        <p:txBody>
          <a:bodyPr anchor="t" rtlCol="false" tIns="0" lIns="0" bIns="0" rIns="0">
            <a:spAutoFit/>
          </a:bodyPr>
          <a:lstStyle/>
          <a:p>
            <a:pPr algn="l">
              <a:lnSpc>
                <a:spcPts val="2727"/>
              </a:lnSpc>
            </a:pPr>
            <a:r>
              <a:rPr lang="en-US" sz="1682">
                <a:solidFill>
                  <a:srgbClr val="0C3571"/>
                </a:solidFill>
                <a:latin typeface="Cloud"/>
                <a:ea typeface="Cloud"/>
                <a:cs typeface="Cloud"/>
                <a:sym typeface="Cloud"/>
              </a:rPr>
              <a:t>Subscription members exhibit substantially higher repeat purchase frequency, creating predictable revenue streams and stronger lifetime value</a:t>
            </a:r>
          </a:p>
        </p:txBody>
      </p:sp>
      <p:sp>
        <p:nvSpPr>
          <p:cNvPr name="TextBox 18" id="18"/>
          <p:cNvSpPr txBox="true"/>
          <p:nvPr/>
        </p:nvSpPr>
        <p:spPr>
          <a:xfrm rot="0">
            <a:off x="1575149" y="7794078"/>
            <a:ext cx="15137693" cy="1014987"/>
          </a:xfrm>
          <a:prstGeom prst="rect">
            <a:avLst/>
          </a:prstGeom>
        </p:spPr>
        <p:txBody>
          <a:bodyPr anchor="t" rtlCol="false" tIns="0" lIns="0" bIns="0" rIns="0">
            <a:spAutoFit/>
          </a:bodyPr>
          <a:lstStyle/>
          <a:p>
            <a:pPr algn="l">
              <a:lnSpc>
                <a:spcPts val="2727"/>
              </a:lnSpc>
            </a:pPr>
            <a:r>
              <a:rPr lang="en-US" sz="1682">
                <a:solidFill>
                  <a:srgbClr val="0C3571"/>
                </a:solidFill>
                <a:latin typeface="Cloud"/>
                <a:ea typeface="Cloud"/>
                <a:cs typeface="Cloud"/>
                <a:sym typeface="Cloud"/>
              </a:rPr>
              <a:t>The subscription model creates a virtuous cycle of engagement and value. These customers not only spend more per transaction but also shop more frequently, resulting in dramatically higher lifetime value. The data strongly supports expanding subscription offerings and creating compelling incentives to convert one-time buyers into subscribers.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9F2F7"/>
        </a:solidFill>
      </p:bgPr>
    </p:bg>
    <p:spTree>
      <p:nvGrpSpPr>
        <p:cNvPr id="1" name=""/>
        <p:cNvGrpSpPr/>
        <p:nvPr/>
      </p:nvGrpSpPr>
      <p:grpSpPr>
        <a:xfrm>
          <a:off x="0" y="0"/>
          <a:ext cx="0" cy="0"/>
          <a:chOff x="0" y="0"/>
          <a:chExt cx="0" cy="0"/>
        </a:xfrm>
      </p:grpSpPr>
      <p:sp>
        <p:nvSpPr>
          <p:cNvPr name="Freeform 2" id="2"/>
          <p:cNvSpPr/>
          <p:nvPr/>
        </p:nvSpPr>
        <p:spPr>
          <a:xfrm flipH="false" flipV="false" rot="0">
            <a:off x="-624614" y="6515100"/>
            <a:ext cx="7059478" cy="4114800"/>
          </a:xfrm>
          <a:custGeom>
            <a:avLst/>
            <a:gdLst/>
            <a:ahLst/>
            <a:cxnLst/>
            <a:rect r="r" b="b" t="t" l="l"/>
            <a:pathLst>
              <a:path h="4114800" w="7059478">
                <a:moveTo>
                  <a:pt x="0" y="0"/>
                </a:moveTo>
                <a:lnTo>
                  <a:pt x="7059478" y="0"/>
                </a:lnTo>
                <a:lnTo>
                  <a:pt x="705947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1924574" y="-357188"/>
            <a:ext cx="7059478" cy="4114800"/>
          </a:xfrm>
          <a:custGeom>
            <a:avLst/>
            <a:gdLst/>
            <a:ahLst/>
            <a:cxnLst/>
            <a:rect r="r" b="b" t="t" l="l"/>
            <a:pathLst>
              <a:path h="4114800" w="7059478">
                <a:moveTo>
                  <a:pt x="7059477" y="4114800"/>
                </a:moveTo>
                <a:lnTo>
                  <a:pt x="0" y="4114800"/>
                </a:lnTo>
                <a:lnTo>
                  <a:pt x="0" y="0"/>
                </a:lnTo>
                <a:lnTo>
                  <a:pt x="7059477" y="0"/>
                </a:lnTo>
                <a:lnTo>
                  <a:pt x="7059477"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002168">
            <a:off x="-1455983" y="-3415755"/>
            <a:ext cx="5987226" cy="5998131"/>
          </a:xfrm>
          <a:custGeom>
            <a:avLst/>
            <a:gdLst/>
            <a:ahLst/>
            <a:cxnLst/>
            <a:rect r="r" b="b" t="t" l="l"/>
            <a:pathLst>
              <a:path h="5998131" w="5987226">
                <a:moveTo>
                  <a:pt x="0" y="0"/>
                </a:moveTo>
                <a:lnTo>
                  <a:pt x="5987226" y="0"/>
                </a:lnTo>
                <a:lnTo>
                  <a:pt x="5987226" y="5998131"/>
                </a:lnTo>
                <a:lnTo>
                  <a:pt x="0" y="59981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5002168">
            <a:off x="14265687" y="7630834"/>
            <a:ext cx="5987226" cy="5998131"/>
          </a:xfrm>
          <a:custGeom>
            <a:avLst/>
            <a:gdLst/>
            <a:ahLst/>
            <a:cxnLst/>
            <a:rect r="r" b="b" t="t" l="l"/>
            <a:pathLst>
              <a:path h="5998131" w="5987226">
                <a:moveTo>
                  <a:pt x="5987226" y="5998132"/>
                </a:moveTo>
                <a:lnTo>
                  <a:pt x="0" y="5998132"/>
                </a:lnTo>
                <a:lnTo>
                  <a:pt x="0" y="0"/>
                </a:lnTo>
                <a:lnTo>
                  <a:pt x="5987226" y="0"/>
                </a:lnTo>
                <a:lnTo>
                  <a:pt x="5987226" y="599813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7488824">
            <a:off x="-221065" y="7727724"/>
            <a:ext cx="3071030" cy="5804353"/>
          </a:xfrm>
          <a:custGeom>
            <a:avLst/>
            <a:gdLst/>
            <a:ahLst/>
            <a:cxnLst/>
            <a:rect r="r" b="b" t="t" l="l"/>
            <a:pathLst>
              <a:path h="5804353" w="3071030">
                <a:moveTo>
                  <a:pt x="0" y="0"/>
                </a:moveTo>
                <a:lnTo>
                  <a:pt x="3071030" y="0"/>
                </a:lnTo>
                <a:lnTo>
                  <a:pt x="3071030" y="5804352"/>
                </a:lnTo>
                <a:lnTo>
                  <a:pt x="0" y="5804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7488824">
            <a:off x="17178162" y="-1873476"/>
            <a:ext cx="3071030" cy="5804353"/>
          </a:xfrm>
          <a:custGeom>
            <a:avLst/>
            <a:gdLst/>
            <a:ahLst/>
            <a:cxnLst/>
            <a:rect r="r" b="b" t="t" l="l"/>
            <a:pathLst>
              <a:path h="5804353" w="3071030">
                <a:moveTo>
                  <a:pt x="0" y="0"/>
                </a:moveTo>
                <a:lnTo>
                  <a:pt x="3071030" y="0"/>
                </a:lnTo>
                <a:lnTo>
                  <a:pt x="3071030" y="5804352"/>
                </a:lnTo>
                <a:lnTo>
                  <a:pt x="0" y="58043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descr="preencoded.png"/>
          <p:cNvSpPr/>
          <p:nvPr/>
        </p:nvSpPr>
        <p:spPr>
          <a:xfrm flipH="false" flipV="false" rot="0">
            <a:off x="4094918" y="2398486"/>
            <a:ext cx="2505481" cy="1131379"/>
          </a:xfrm>
          <a:custGeom>
            <a:avLst/>
            <a:gdLst/>
            <a:ahLst/>
            <a:cxnLst/>
            <a:rect r="r" b="b" t="t" l="l"/>
            <a:pathLst>
              <a:path h="1131379" w="2505481">
                <a:moveTo>
                  <a:pt x="0" y="0"/>
                </a:moveTo>
                <a:lnTo>
                  <a:pt x="2505481" y="0"/>
                </a:lnTo>
                <a:lnTo>
                  <a:pt x="2505481" y="1131380"/>
                </a:lnTo>
                <a:lnTo>
                  <a:pt x="0" y="1131380"/>
                </a:lnTo>
                <a:lnTo>
                  <a:pt x="0" y="0"/>
                </a:lnTo>
                <a:close/>
              </a:path>
            </a:pathLst>
          </a:custGeom>
          <a:blipFill>
            <a:blip r:embed="rId8"/>
            <a:stretch>
              <a:fillRect l="0" t="-258" r="0" b="-259"/>
            </a:stretch>
          </a:blipFill>
        </p:spPr>
      </p:sp>
      <p:grpSp>
        <p:nvGrpSpPr>
          <p:cNvPr name="Group 9" id="9"/>
          <p:cNvGrpSpPr/>
          <p:nvPr/>
        </p:nvGrpSpPr>
        <p:grpSpPr>
          <a:xfrm rot="0">
            <a:off x="6649467" y="3543315"/>
            <a:ext cx="10037856" cy="13307"/>
            <a:chOff x="0" y="0"/>
            <a:chExt cx="14369847" cy="19050"/>
          </a:xfrm>
        </p:grpSpPr>
        <p:sp>
          <p:nvSpPr>
            <p:cNvPr name="Freeform 10" id="10"/>
            <p:cNvSpPr/>
            <p:nvPr/>
          </p:nvSpPr>
          <p:spPr>
            <a:xfrm flipH="false" flipV="false" rot="0">
              <a:off x="0" y="0"/>
              <a:ext cx="14369796" cy="19050"/>
            </a:xfrm>
            <a:custGeom>
              <a:avLst/>
              <a:gdLst/>
              <a:ahLst/>
              <a:cxnLst/>
              <a:rect r="r" b="b" t="t" l="l"/>
              <a:pathLst>
                <a:path h="19050" w="14369796">
                  <a:moveTo>
                    <a:pt x="0" y="9525"/>
                  </a:moveTo>
                  <a:cubicBezTo>
                    <a:pt x="0" y="4318"/>
                    <a:pt x="4318" y="0"/>
                    <a:pt x="9525" y="0"/>
                  </a:cubicBezTo>
                  <a:lnTo>
                    <a:pt x="14360271" y="0"/>
                  </a:lnTo>
                  <a:cubicBezTo>
                    <a:pt x="14365478" y="0"/>
                    <a:pt x="14369796" y="4318"/>
                    <a:pt x="14369796" y="9525"/>
                  </a:cubicBezTo>
                  <a:cubicBezTo>
                    <a:pt x="14369796" y="14732"/>
                    <a:pt x="14365478" y="19050"/>
                    <a:pt x="14360271" y="19050"/>
                  </a:cubicBezTo>
                  <a:lnTo>
                    <a:pt x="9525" y="19050"/>
                  </a:lnTo>
                  <a:cubicBezTo>
                    <a:pt x="4318" y="19050"/>
                    <a:pt x="0" y="14732"/>
                    <a:pt x="0" y="9525"/>
                  </a:cubicBezTo>
                  <a:close/>
                </a:path>
              </a:pathLst>
            </a:custGeom>
            <a:solidFill>
              <a:srgbClr val="0C3571"/>
            </a:solidFill>
            <a:ln w="12700">
              <a:solidFill>
                <a:srgbClr val="000000"/>
              </a:solidFill>
            </a:ln>
          </p:spPr>
        </p:sp>
      </p:grpSp>
      <p:sp>
        <p:nvSpPr>
          <p:cNvPr name="Freeform 11" id="11" descr="preencoded.png"/>
          <p:cNvSpPr/>
          <p:nvPr/>
        </p:nvSpPr>
        <p:spPr>
          <a:xfrm flipH="false" flipV="false" rot="0">
            <a:off x="2842249" y="3578943"/>
            <a:ext cx="5010961" cy="1131379"/>
          </a:xfrm>
          <a:custGeom>
            <a:avLst/>
            <a:gdLst/>
            <a:ahLst/>
            <a:cxnLst/>
            <a:rect r="r" b="b" t="t" l="l"/>
            <a:pathLst>
              <a:path h="1131379" w="5010961">
                <a:moveTo>
                  <a:pt x="0" y="0"/>
                </a:moveTo>
                <a:lnTo>
                  <a:pt x="5010961" y="0"/>
                </a:lnTo>
                <a:lnTo>
                  <a:pt x="5010961" y="1131379"/>
                </a:lnTo>
                <a:lnTo>
                  <a:pt x="0" y="1131379"/>
                </a:lnTo>
                <a:lnTo>
                  <a:pt x="0" y="0"/>
                </a:lnTo>
                <a:close/>
              </a:path>
            </a:pathLst>
          </a:custGeom>
          <a:blipFill>
            <a:blip r:embed="rId9"/>
            <a:stretch>
              <a:fillRect l="0" t="-170" r="0" b="-170"/>
            </a:stretch>
          </a:blipFill>
        </p:spPr>
      </p:sp>
      <p:grpSp>
        <p:nvGrpSpPr>
          <p:cNvPr name="Group 12" id="12"/>
          <p:cNvGrpSpPr/>
          <p:nvPr/>
        </p:nvGrpSpPr>
        <p:grpSpPr>
          <a:xfrm rot="0">
            <a:off x="7902278" y="4723771"/>
            <a:ext cx="8785053" cy="13307"/>
            <a:chOff x="0" y="0"/>
            <a:chExt cx="12576378" cy="19050"/>
          </a:xfrm>
        </p:grpSpPr>
        <p:sp>
          <p:nvSpPr>
            <p:cNvPr name="Freeform 13" id="13"/>
            <p:cNvSpPr/>
            <p:nvPr/>
          </p:nvSpPr>
          <p:spPr>
            <a:xfrm flipH="false" flipV="false" rot="0">
              <a:off x="0" y="0"/>
              <a:ext cx="12576429" cy="19050"/>
            </a:xfrm>
            <a:custGeom>
              <a:avLst/>
              <a:gdLst/>
              <a:ahLst/>
              <a:cxnLst/>
              <a:rect r="r" b="b" t="t" l="l"/>
              <a:pathLst>
                <a:path h="19050" w="12576429">
                  <a:moveTo>
                    <a:pt x="0" y="9525"/>
                  </a:moveTo>
                  <a:cubicBezTo>
                    <a:pt x="0" y="4318"/>
                    <a:pt x="4318" y="0"/>
                    <a:pt x="9525" y="0"/>
                  </a:cubicBezTo>
                  <a:lnTo>
                    <a:pt x="12566904" y="0"/>
                  </a:lnTo>
                  <a:cubicBezTo>
                    <a:pt x="12572111" y="0"/>
                    <a:pt x="12576429" y="4318"/>
                    <a:pt x="12576429" y="9525"/>
                  </a:cubicBezTo>
                  <a:cubicBezTo>
                    <a:pt x="12576429" y="14732"/>
                    <a:pt x="12572111" y="19050"/>
                    <a:pt x="12566904" y="19050"/>
                  </a:cubicBezTo>
                  <a:lnTo>
                    <a:pt x="9525" y="19050"/>
                  </a:lnTo>
                  <a:cubicBezTo>
                    <a:pt x="4318" y="19050"/>
                    <a:pt x="0" y="14732"/>
                    <a:pt x="0" y="9525"/>
                  </a:cubicBezTo>
                  <a:close/>
                </a:path>
              </a:pathLst>
            </a:custGeom>
            <a:solidFill>
              <a:srgbClr val="0C3571"/>
            </a:solidFill>
            <a:ln w="12700">
              <a:solidFill>
                <a:srgbClr val="000000"/>
              </a:solidFill>
            </a:ln>
          </p:spPr>
        </p:sp>
      </p:grpSp>
      <p:sp>
        <p:nvSpPr>
          <p:cNvPr name="Freeform 14" id="14" descr="preencoded.png"/>
          <p:cNvSpPr/>
          <p:nvPr/>
        </p:nvSpPr>
        <p:spPr>
          <a:xfrm flipH="false" flipV="false" rot="0">
            <a:off x="1589446" y="4759399"/>
            <a:ext cx="7516442" cy="1131379"/>
          </a:xfrm>
          <a:custGeom>
            <a:avLst/>
            <a:gdLst/>
            <a:ahLst/>
            <a:cxnLst/>
            <a:rect r="r" b="b" t="t" l="l"/>
            <a:pathLst>
              <a:path h="1131379" w="7516442">
                <a:moveTo>
                  <a:pt x="0" y="0"/>
                </a:moveTo>
                <a:lnTo>
                  <a:pt x="7516442" y="0"/>
                </a:lnTo>
                <a:lnTo>
                  <a:pt x="7516442" y="1131379"/>
                </a:lnTo>
                <a:lnTo>
                  <a:pt x="0" y="1131379"/>
                </a:lnTo>
                <a:lnTo>
                  <a:pt x="0" y="0"/>
                </a:lnTo>
                <a:close/>
              </a:path>
            </a:pathLst>
          </a:custGeom>
          <a:blipFill>
            <a:blip r:embed="rId10"/>
            <a:stretch>
              <a:fillRect l="0" t="-199" r="0" b="-199"/>
            </a:stretch>
          </a:blipFill>
        </p:spPr>
      </p:sp>
      <p:sp>
        <p:nvSpPr>
          <p:cNvPr name="Freeform 15" id="15" descr="preencoded.png"/>
          <p:cNvSpPr/>
          <p:nvPr/>
        </p:nvSpPr>
        <p:spPr>
          <a:xfrm flipH="false" flipV="false" rot="0">
            <a:off x="1551601" y="6961167"/>
            <a:ext cx="7592399" cy="785537"/>
          </a:xfrm>
          <a:custGeom>
            <a:avLst/>
            <a:gdLst/>
            <a:ahLst/>
            <a:cxnLst/>
            <a:rect r="r" b="b" t="t" l="l"/>
            <a:pathLst>
              <a:path h="785537" w="7592399">
                <a:moveTo>
                  <a:pt x="0" y="0"/>
                </a:moveTo>
                <a:lnTo>
                  <a:pt x="7592399" y="0"/>
                </a:lnTo>
                <a:lnTo>
                  <a:pt x="7592399" y="785536"/>
                </a:lnTo>
                <a:lnTo>
                  <a:pt x="0" y="785536"/>
                </a:lnTo>
                <a:lnTo>
                  <a:pt x="0" y="0"/>
                </a:lnTo>
                <a:close/>
              </a:path>
            </a:pathLst>
          </a:custGeom>
          <a:blipFill>
            <a:blip r:embed="rId11"/>
            <a:stretch>
              <a:fillRect l="0" t="-246" r="0" b="-245"/>
            </a:stretch>
          </a:blipFill>
        </p:spPr>
      </p:sp>
      <p:sp>
        <p:nvSpPr>
          <p:cNvPr name="Freeform 16" id="16" descr="preencoded.png"/>
          <p:cNvSpPr/>
          <p:nvPr/>
        </p:nvSpPr>
        <p:spPr>
          <a:xfrm flipH="false" flipV="false" rot="0">
            <a:off x="9144000" y="6961167"/>
            <a:ext cx="7592399" cy="785537"/>
          </a:xfrm>
          <a:custGeom>
            <a:avLst/>
            <a:gdLst/>
            <a:ahLst/>
            <a:cxnLst/>
            <a:rect r="r" b="b" t="t" l="l"/>
            <a:pathLst>
              <a:path h="785537" w="7592399">
                <a:moveTo>
                  <a:pt x="0" y="0"/>
                </a:moveTo>
                <a:lnTo>
                  <a:pt x="7592399" y="0"/>
                </a:lnTo>
                <a:lnTo>
                  <a:pt x="7592399" y="785536"/>
                </a:lnTo>
                <a:lnTo>
                  <a:pt x="0" y="785536"/>
                </a:lnTo>
                <a:lnTo>
                  <a:pt x="0" y="0"/>
                </a:lnTo>
                <a:close/>
              </a:path>
            </a:pathLst>
          </a:custGeom>
          <a:blipFill>
            <a:blip r:embed="rId12"/>
            <a:stretch>
              <a:fillRect l="0" t="-246" r="0" b="-245"/>
            </a:stretch>
          </a:blipFill>
        </p:spPr>
      </p:sp>
      <p:grpSp>
        <p:nvGrpSpPr>
          <p:cNvPr name="Group 17" id="17"/>
          <p:cNvGrpSpPr/>
          <p:nvPr/>
        </p:nvGrpSpPr>
        <p:grpSpPr>
          <a:xfrm rot="0">
            <a:off x="4094918" y="7138168"/>
            <a:ext cx="3086100" cy="431534"/>
            <a:chOff x="0" y="0"/>
            <a:chExt cx="812800" cy="113655"/>
          </a:xfrm>
        </p:grpSpPr>
        <p:sp>
          <p:nvSpPr>
            <p:cNvPr name="Freeform 18" id="18"/>
            <p:cNvSpPr/>
            <p:nvPr/>
          </p:nvSpPr>
          <p:spPr>
            <a:xfrm flipH="false" flipV="false" rot="0">
              <a:off x="0" y="0"/>
              <a:ext cx="812800" cy="113655"/>
            </a:xfrm>
            <a:custGeom>
              <a:avLst/>
              <a:gdLst/>
              <a:ahLst/>
              <a:cxnLst/>
              <a:rect r="r" b="b" t="t" l="l"/>
              <a:pathLst>
                <a:path h="113655" w="812800">
                  <a:moveTo>
                    <a:pt x="0" y="0"/>
                  </a:moveTo>
                  <a:lnTo>
                    <a:pt x="812800" y="0"/>
                  </a:lnTo>
                  <a:lnTo>
                    <a:pt x="812800" y="113655"/>
                  </a:lnTo>
                  <a:lnTo>
                    <a:pt x="0" y="113655"/>
                  </a:lnTo>
                  <a:close/>
                </a:path>
              </a:pathLst>
            </a:custGeom>
            <a:solidFill>
              <a:srgbClr val="243266"/>
            </a:solidFill>
          </p:spPr>
        </p:sp>
        <p:sp>
          <p:nvSpPr>
            <p:cNvPr name="TextBox 19" id="19"/>
            <p:cNvSpPr txBox="true"/>
            <p:nvPr/>
          </p:nvSpPr>
          <p:spPr>
            <a:xfrm>
              <a:off x="0" y="-19050"/>
              <a:ext cx="812800" cy="132705"/>
            </a:xfrm>
            <a:prstGeom prst="rect">
              <a:avLst/>
            </a:prstGeom>
          </p:spPr>
          <p:txBody>
            <a:bodyPr anchor="ctr" rtlCol="false" tIns="50800" lIns="50800" bIns="50800" rIns="50800"/>
            <a:lstStyle/>
            <a:p>
              <a:pPr algn="ctr">
                <a:lnSpc>
                  <a:spcPts val="2510"/>
                </a:lnSpc>
              </a:pPr>
            </a:p>
          </p:txBody>
        </p:sp>
      </p:grpSp>
      <p:sp>
        <p:nvSpPr>
          <p:cNvPr name="TextBox 20" id="20"/>
          <p:cNvSpPr txBox="true"/>
          <p:nvPr/>
        </p:nvSpPr>
        <p:spPr>
          <a:xfrm rot="0">
            <a:off x="5389543" y="1363566"/>
            <a:ext cx="7508915" cy="610082"/>
          </a:xfrm>
          <a:prstGeom prst="rect">
            <a:avLst/>
          </a:prstGeom>
        </p:spPr>
        <p:txBody>
          <a:bodyPr anchor="t" rtlCol="false" tIns="0" lIns="0" bIns="0" rIns="0">
            <a:spAutoFit/>
          </a:bodyPr>
          <a:lstStyle/>
          <a:p>
            <a:pPr algn="l">
              <a:lnSpc>
                <a:spcPts val="4831"/>
              </a:lnSpc>
            </a:pPr>
            <a:r>
              <a:rPr lang="en-US" b="true" sz="3841">
                <a:solidFill>
                  <a:srgbClr val="0C3571"/>
                </a:solidFill>
                <a:latin typeface="Anantason Bold"/>
                <a:ea typeface="Anantason Bold"/>
                <a:cs typeface="Anantason Bold"/>
                <a:sym typeface="Anantason Bold"/>
              </a:rPr>
              <a:t>Customer Segmentation Strategy</a:t>
            </a:r>
          </a:p>
        </p:txBody>
      </p:sp>
      <p:sp>
        <p:nvSpPr>
          <p:cNvPr name="TextBox 21" id="21"/>
          <p:cNvSpPr txBox="true"/>
          <p:nvPr/>
        </p:nvSpPr>
        <p:spPr>
          <a:xfrm rot="0">
            <a:off x="5288537" y="2795429"/>
            <a:ext cx="118110" cy="465266"/>
          </a:xfrm>
          <a:prstGeom prst="rect">
            <a:avLst/>
          </a:prstGeom>
        </p:spPr>
        <p:txBody>
          <a:bodyPr anchor="t" rtlCol="false" tIns="0" lIns="0" bIns="0" rIns="0">
            <a:spAutoFit/>
          </a:bodyPr>
          <a:lstStyle/>
          <a:p>
            <a:pPr algn="ctr">
              <a:lnSpc>
                <a:spcPts val="3986"/>
              </a:lnSpc>
            </a:pPr>
            <a:r>
              <a:rPr lang="en-US" sz="2499">
                <a:solidFill>
                  <a:srgbClr val="FFFFFF"/>
                </a:solidFill>
                <a:latin typeface="Anantason"/>
                <a:ea typeface="Anantason"/>
                <a:cs typeface="Anantason"/>
                <a:sym typeface="Anantason"/>
              </a:rPr>
              <a:t>1</a:t>
            </a:r>
          </a:p>
        </p:txBody>
      </p:sp>
      <p:sp>
        <p:nvSpPr>
          <p:cNvPr name="TextBox 22" id="22"/>
          <p:cNvSpPr txBox="true"/>
          <p:nvPr/>
        </p:nvSpPr>
        <p:spPr>
          <a:xfrm rot="0">
            <a:off x="6796679" y="2664580"/>
            <a:ext cx="1105599" cy="322486"/>
          </a:xfrm>
          <a:prstGeom prst="rect">
            <a:avLst/>
          </a:prstGeom>
        </p:spPr>
        <p:txBody>
          <a:bodyPr anchor="t" rtlCol="false" tIns="0" lIns="0" bIns="0" rIns="0">
            <a:spAutoFit/>
          </a:bodyPr>
          <a:lstStyle/>
          <a:p>
            <a:pPr algn="l">
              <a:lnSpc>
                <a:spcPts val="2510"/>
              </a:lnSpc>
            </a:pPr>
            <a:r>
              <a:rPr lang="en-US" sz="2020">
                <a:solidFill>
                  <a:srgbClr val="0C3571"/>
                </a:solidFill>
                <a:latin typeface="Cloud"/>
                <a:ea typeface="Cloud"/>
                <a:cs typeface="Cloud"/>
                <a:sym typeface="Cloud"/>
              </a:rPr>
              <a:t>Loyal</a:t>
            </a:r>
          </a:p>
        </p:txBody>
      </p:sp>
      <p:sp>
        <p:nvSpPr>
          <p:cNvPr name="TextBox 23" id="23"/>
          <p:cNvSpPr txBox="true"/>
          <p:nvPr/>
        </p:nvSpPr>
        <p:spPr>
          <a:xfrm rot="0">
            <a:off x="6796679" y="2945763"/>
            <a:ext cx="2543601" cy="314932"/>
          </a:xfrm>
          <a:prstGeom prst="rect">
            <a:avLst/>
          </a:prstGeom>
        </p:spPr>
        <p:txBody>
          <a:bodyPr anchor="t" rtlCol="false" tIns="0" lIns="0" bIns="0" rIns="0">
            <a:spAutoFit/>
          </a:bodyPr>
          <a:lstStyle/>
          <a:p>
            <a:pPr algn="l">
              <a:lnSpc>
                <a:spcPts val="2606"/>
              </a:lnSpc>
            </a:pPr>
            <a:r>
              <a:rPr lang="en-US" sz="1613">
                <a:solidFill>
                  <a:srgbClr val="0C3571"/>
                </a:solidFill>
                <a:latin typeface="Cloud"/>
                <a:ea typeface="Cloud"/>
                <a:cs typeface="Cloud"/>
                <a:sym typeface="Cloud"/>
              </a:rPr>
              <a:t>15% High-value customers</a:t>
            </a:r>
          </a:p>
        </p:txBody>
      </p:sp>
      <p:sp>
        <p:nvSpPr>
          <p:cNvPr name="TextBox 24" id="24"/>
          <p:cNvSpPr txBox="true"/>
          <p:nvPr/>
        </p:nvSpPr>
        <p:spPr>
          <a:xfrm rot="0">
            <a:off x="5251032" y="3835743"/>
            <a:ext cx="193119" cy="465266"/>
          </a:xfrm>
          <a:prstGeom prst="rect">
            <a:avLst/>
          </a:prstGeom>
        </p:spPr>
        <p:txBody>
          <a:bodyPr anchor="t" rtlCol="false" tIns="0" lIns="0" bIns="0" rIns="0">
            <a:spAutoFit/>
          </a:bodyPr>
          <a:lstStyle/>
          <a:p>
            <a:pPr algn="ctr">
              <a:lnSpc>
                <a:spcPts val="3986"/>
              </a:lnSpc>
            </a:pPr>
            <a:r>
              <a:rPr lang="en-US" sz="2499">
                <a:solidFill>
                  <a:srgbClr val="FFFFFF"/>
                </a:solidFill>
                <a:latin typeface="Anantason"/>
                <a:ea typeface="Anantason"/>
                <a:cs typeface="Anantason"/>
                <a:sym typeface="Anantason"/>
              </a:rPr>
              <a:t>2</a:t>
            </a:r>
          </a:p>
        </p:txBody>
      </p:sp>
      <p:sp>
        <p:nvSpPr>
          <p:cNvPr name="TextBox 25" id="25"/>
          <p:cNvSpPr txBox="true"/>
          <p:nvPr/>
        </p:nvSpPr>
        <p:spPr>
          <a:xfrm rot="0">
            <a:off x="8040550" y="3838208"/>
            <a:ext cx="1546368" cy="322486"/>
          </a:xfrm>
          <a:prstGeom prst="rect">
            <a:avLst/>
          </a:prstGeom>
        </p:spPr>
        <p:txBody>
          <a:bodyPr anchor="t" rtlCol="false" tIns="0" lIns="0" bIns="0" rIns="0">
            <a:spAutoFit/>
          </a:bodyPr>
          <a:lstStyle/>
          <a:p>
            <a:pPr algn="l">
              <a:lnSpc>
                <a:spcPts val="2510"/>
              </a:lnSpc>
            </a:pPr>
            <a:r>
              <a:rPr lang="en-US" sz="2020">
                <a:solidFill>
                  <a:srgbClr val="0C3571"/>
                </a:solidFill>
                <a:latin typeface="Cloud"/>
                <a:ea typeface="Cloud"/>
                <a:cs typeface="Cloud"/>
                <a:sym typeface="Cloud"/>
              </a:rPr>
              <a:t>Returning</a:t>
            </a:r>
          </a:p>
        </p:txBody>
      </p:sp>
      <p:sp>
        <p:nvSpPr>
          <p:cNvPr name="TextBox 26" id="26"/>
          <p:cNvSpPr txBox="true"/>
          <p:nvPr/>
        </p:nvSpPr>
        <p:spPr>
          <a:xfrm rot="0">
            <a:off x="8059539" y="4117074"/>
            <a:ext cx="2187911" cy="314932"/>
          </a:xfrm>
          <a:prstGeom prst="rect">
            <a:avLst/>
          </a:prstGeom>
        </p:spPr>
        <p:txBody>
          <a:bodyPr anchor="t" rtlCol="false" tIns="0" lIns="0" bIns="0" rIns="0">
            <a:spAutoFit/>
          </a:bodyPr>
          <a:lstStyle/>
          <a:p>
            <a:pPr algn="l">
              <a:lnSpc>
                <a:spcPts val="2606"/>
              </a:lnSpc>
            </a:pPr>
            <a:r>
              <a:rPr lang="en-US" sz="1613">
                <a:solidFill>
                  <a:srgbClr val="0C3571"/>
                </a:solidFill>
                <a:latin typeface="Cloud"/>
                <a:ea typeface="Cloud"/>
                <a:cs typeface="Cloud"/>
                <a:sym typeface="Cloud"/>
              </a:rPr>
              <a:t>35% Regular shoppers</a:t>
            </a:r>
          </a:p>
        </p:txBody>
      </p:sp>
      <p:sp>
        <p:nvSpPr>
          <p:cNvPr name="TextBox 27" id="27"/>
          <p:cNvSpPr txBox="true"/>
          <p:nvPr/>
        </p:nvSpPr>
        <p:spPr>
          <a:xfrm rot="0">
            <a:off x="5236931" y="5012154"/>
            <a:ext cx="193119" cy="465266"/>
          </a:xfrm>
          <a:prstGeom prst="rect">
            <a:avLst/>
          </a:prstGeom>
        </p:spPr>
        <p:txBody>
          <a:bodyPr anchor="t" rtlCol="false" tIns="0" lIns="0" bIns="0" rIns="0">
            <a:spAutoFit/>
          </a:bodyPr>
          <a:lstStyle/>
          <a:p>
            <a:pPr algn="ctr">
              <a:lnSpc>
                <a:spcPts val="3986"/>
              </a:lnSpc>
            </a:pPr>
            <a:r>
              <a:rPr lang="en-US" sz="2499">
                <a:solidFill>
                  <a:srgbClr val="FFFFFF"/>
                </a:solidFill>
                <a:latin typeface="Anantason"/>
                <a:ea typeface="Anantason"/>
                <a:cs typeface="Anantason"/>
                <a:sym typeface="Anantason"/>
              </a:rPr>
              <a:t>3</a:t>
            </a:r>
          </a:p>
        </p:txBody>
      </p:sp>
      <p:sp>
        <p:nvSpPr>
          <p:cNvPr name="TextBox 28" id="28"/>
          <p:cNvSpPr txBox="true"/>
          <p:nvPr/>
        </p:nvSpPr>
        <p:spPr>
          <a:xfrm rot="0">
            <a:off x="9340280" y="5073695"/>
            <a:ext cx="780746" cy="322486"/>
          </a:xfrm>
          <a:prstGeom prst="rect">
            <a:avLst/>
          </a:prstGeom>
        </p:spPr>
        <p:txBody>
          <a:bodyPr anchor="t" rtlCol="false" tIns="0" lIns="0" bIns="0" rIns="0">
            <a:spAutoFit/>
          </a:bodyPr>
          <a:lstStyle/>
          <a:p>
            <a:pPr algn="l">
              <a:lnSpc>
                <a:spcPts val="2510"/>
              </a:lnSpc>
            </a:pPr>
            <a:r>
              <a:rPr lang="en-US" sz="2020">
                <a:solidFill>
                  <a:srgbClr val="0C3571"/>
                </a:solidFill>
                <a:latin typeface="Cloud"/>
                <a:ea typeface="Cloud"/>
                <a:cs typeface="Cloud"/>
                <a:sym typeface="Cloud"/>
              </a:rPr>
              <a:t>New</a:t>
            </a:r>
          </a:p>
        </p:txBody>
      </p:sp>
      <p:sp>
        <p:nvSpPr>
          <p:cNvPr name="TextBox 29" id="29"/>
          <p:cNvSpPr txBox="true"/>
          <p:nvPr/>
        </p:nvSpPr>
        <p:spPr>
          <a:xfrm rot="0">
            <a:off x="9340280" y="5319981"/>
            <a:ext cx="2075819" cy="314932"/>
          </a:xfrm>
          <a:prstGeom prst="rect">
            <a:avLst/>
          </a:prstGeom>
        </p:spPr>
        <p:txBody>
          <a:bodyPr anchor="t" rtlCol="false" tIns="0" lIns="0" bIns="0" rIns="0">
            <a:spAutoFit/>
          </a:bodyPr>
          <a:lstStyle/>
          <a:p>
            <a:pPr algn="l">
              <a:lnSpc>
                <a:spcPts val="2606"/>
              </a:lnSpc>
            </a:pPr>
            <a:r>
              <a:rPr lang="en-US" sz="1613">
                <a:solidFill>
                  <a:srgbClr val="0C3571"/>
                </a:solidFill>
                <a:latin typeface="Cloud"/>
                <a:ea typeface="Cloud"/>
                <a:cs typeface="Cloud"/>
                <a:sym typeface="Cloud"/>
              </a:rPr>
              <a:t>50% First-time buyers</a:t>
            </a:r>
          </a:p>
        </p:txBody>
      </p:sp>
      <p:sp>
        <p:nvSpPr>
          <p:cNvPr name="TextBox 30" id="30"/>
          <p:cNvSpPr txBox="true"/>
          <p:nvPr/>
        </p:nvSpPr>
        <p:spPr>
          <a:xfrm rot="0">
            <a:off x="1551601" y="6045055"/>
            <a:ext cx="15184798" cy="613556"/>
          </a:xfrm>
          <a:prstGeom prst="rect">
            <a:avLst/>
          </a:prstGeom>
        </p:spPr>
        <p:txBody>
          <a:bodyPr anchor="t" rtlCol="false" tIns="0" lIns="0" bIns="0" rIns="0">
            <a:spAutoFit/>
          </a:bodyPr>
          <a:lstStyle/>
          <a:p>
            <a:pPr algn="l">
              <a:lnSpc>
                <a:spcPts val="2503"/>
              </a:lnSpc>
            </a:pPr>
            <a:r>
              <a:rPr lang="en-US" sz="1550">
                <a:solidFill>
                  <a:srgbClr val="0C3571"/>
                </a:solidFill>
                <a:latin typeface="Cloud"/>
                <a:ea typeface="Cloud"/>
                <a:cs typeface="Cloud"/>
                <a:sym typeface="Cloud"/>
              </a:rPr>
              <a:t>Our customer base forms a classic acquisition-to-loyalty pyramid. Half of all customers are first-time buyers, representing both an opportunity and a challenge. The key strategic priority is moving customers up the pyramid: converting new buyers into returning customers, and transforming returning customers into loyal brand advocates.</a:t>
            </a:r>
          </a:p>
        </p:txBody>
      </p:sp>
      <p:sp>
        <p:nvSpPr>
          <p:cNvPr name="TextBox 31" id="31"/>
          <p:cNvSpPr txBox="true"/>
          <p:nvPr/>
        </p:nvSpPr>
        <p:spPr>
          <a:xfrm rot="0">
            <a:off x="1747881" y="7873340"/>
            <a:ext cx="3424529" cy="322486"/>
          </a:xfrm>
          <a:prstGeom prst="rect">
            <a:avLst/>
          </a:prstGeom>
        </p:spPr>
        <p:txBody>
          <a:bodyPr anchor="t" rtlCol="false" tIns="0" lIns="0" bIns="0" rIns="0">
            <a:spAutoFit/>
          </a:bodyPr>
          <a:lstStyle/>
          <a:p>
            <a:pPr algn="l">
              <a:lnSpc>
                <a:spcPts val="2510"/>
              </a:lnSpc>
            </a:pPr>
            <a:r>
              <a:rPr lang="en-US" sz="2020">
                <a:solidFill>
                  <a:srgbClr val="0C3571"/>
                </a:solidFill>
                <a:latin typeface="Cloud"/>
                <a:ea typeface="Cloud"/>
                <a:cs typeface="Cloud"/>
                <a:sym typeface="Cloud"/>
              </a:rPr>
              <a:t>Convert New → Returning</a:t>
            </a:r>
          </a:p>
        </p:txBody>
      </p:sp>
      <p:sp>
        <p:nvSpPr>
          <p:cNvPr name="TextBox 32" id="32"/>
          <p:cNvSpPr txBox="true"/>
          <p:nvPr/>
        </p:nvSpPr>
        <p:spPr>
          <a:xfrm rot="0">
            <a:off x="1747881" y="8272159"/>
            <a:ext cx="6849059" cy="485775"/>
          </a:xfrm>
          <a:prstGeom prst="rect">
            <a:avLst/>
          </a:prstGeom>
        </p:spPr>
        <p:txBody>
          <a:bodyPr anchor="t" rtlCol="false" tIns="0" lIns="0" bIns="0" rIns="0">
            <a:spAutoFit/>
          </a:bodyPr>
          <a:lstStyle/>
          <a:p>
            <a:pPr algn="l">
              <a:lnSpc>
                <a:spcPts val="1936"/>
              </a:lnSpc>
            </a:pPr>
            <a:r>
              <a:rPr lang="en-US" sz="1613">
                <a:solidFill>
                  <a:srgbClr val="0C3571"/>
                </a:solidFill>
                <a:latin typeface="Cloud"/>
                <a:ea typeface="Cloud"/>
                <a:cs typeface="Cloud"/>
                <a:sym typeface="Cloud"/>
              </a:rPr>
              <a:t>Post-purchase engagement, personalized recommendations, and first-order incentives</a:t>
            </a:r>
          </a:p>
        </p:txBody>
      </p:sp>
      <p:sp>
        <p:nvSpPr>
          <p:cNvPr name="TextBox 33" id="33"/>
          <p:cNvSpPr txBox="true"/>
          <p:nvPr/>
        </p:nvSpPr>
        <p:spPr>
          <a:xfrm rot="0">
            <a:off x="9340280" y="7923933"/>
            <a:ext cx="3507518" cy="322486"/>
          </a:xfrm>
          <a:prstGeom prst="rect">
            <a:avLst/>
          </a:prstGeom>
        </p:spPr>
        <p:txBody>
          <a:bodyPr anchor="t" rtlCol="false" tIns="0" lIns="0" bIns="0" rIns="0">
            <a:spAutoFit/>
          </a:bodyPr>
          <a:lstStyle/>
          <a:p>
            <a:pPr algn="l">
              <a:lnSpc>
                <a:spcPts val="2510"/>
              </a:lnSpc>
            </a:pPr>
            <a:r>
              <a:rPr lang="en-US" sz="2020">
                <a:solidFill>
                  <a:srgbClr val="0C3571"/>
                </a:solidFill>
                <a:latin typeface="Cloud"/>
                <a:ea typeface="Cloud"/>
                <a:cs typeface="Cloud"/>
                <a:sym typeface="Cloud"/>
              </a:rPr>
              <a:t>Elevate Returning → Loyal</a:t>
            </a:r>
          </a:p>
        </p:txBody>
      </p:sp>
      <p:sp>
        <p:nvSpPr>
          <p:cNvPr name="TextBox 34" id="34"/>
          <p:cNvSpPr txBox="true"/>
          <p:nvPr/>
        </p:nvSpPr>
        <p:spPr>
          <a:xfrm rot="0">
            <a:off x="9340280" y="8272159"/>
            <a:ext cx="7015037" cy="487824"/>
          </a:xfrm>
          <a:prstGeom prst="rect">
            <a:avLst/>
          </a:prstGeom>
        </p:spPr>
        <p:txBody>
          <a:bodyPr anchor="t" rtlCol="false" tIns="0" lIns="0" bIns="0" rIns="0">
            <a:spAutoFit/>
          </a:bodyPr>
          <a:lstStyle/>
          <a:p>
            <a:pPr algn="l">
              <a:lnSpc>
                <a:spcPts val="1920"/>
              </a:lnSpc>
            </a:pPr>
            <a:r>
              <a:rPr lang="en-US" sz="1613">
                <a:solidFill>
                  <a:srgbClr val="0C3571"/>
                </a:solidFill>
                <a:latin typeface="Cloud"/>
                <a:ea typeface="Cloud"/>
                <a:cs typeface="Cloud"/>
                <a:sym typeface="Cloud"/>
              </a:rPr>
              <a:t>Subscription programs, VIP benefits, and exclusive access to drive frequency and commitment</a:t>
            </a:r>
          </a:p>
        </p:txBody>
      </p:sp>
      <p:grpSp>
        <p:nvGrpSpPr>
          <p:cNvPr name="Group 35" id="35"/>
          <p:cNvGrpSpPr/>
          <p:nvPr/>
        </p:nvGrpSpPr>
        <p:grpSpPr>
          <a:xfrm rot="0">
            <a:off x="11668395" y="7144845"/>
            <a:ext cx="3086100" cy="431534"/>
            <a:chOff x="0" y="0"/>
            <a:chExt cx="812800" cy="113655"/>
          </a:xfrm>
        </p:grpSpPr>
        <p:sp>
          <p:nvSpPr>
            <p:cNvPr name="Freeform 36" id="36"/>
            <p:cNvSpPr/>
            <p:nvPr/>
          </p:nvSpPr>
          <p:spPr>
            <a:xfrm flipH="false" flipV="false" rot="0">
              <a:off x="0" y="0"/>
              <a:ext cx="812800" cy="113655"/>
            </a:xfrm>
            <a:custGeom>
              <a:avLst/>
              <a:gdLst/>
              <a:ahLst/>
              <a:cxnLst/>
              <a:rect r="r" b="b" t="t" l="l"/>
              <a:pathLst>
                <a:path h="113655" w="812800">
                  <a:moveTo>
                    <a:pt x="0" y="0"/>
                  </a:moveTo>
                  <a:lnTo>
                    <a:pt x="812800" y="0"/>
                  </a:lnTo>
                  <a:lnTo>
                    <a:pt x="812800" y="113655"/>
                  </a:lnTo>
                  <a:lnTo>
                    <a:pt x="0" y="113655"/>
                  </a:lnTo>
                  <a:close/>
                </a:path>
              </a:pathLst>
            </a:custGeom>
            <a:solidFill>
              <a:srgbClr val="243266"/>
            </a:solidFill>
          </p:spPr>
        </p:sp>
        <p:sp>
          <p:nvSpPr>
            <p:cNvPr name="TextBox 37" id="37"/>
            <p:cNvSpPr txBox="true"/>
            <p:nvPr/>
          </p:nvSpPr>
          <p:spPr>
            <a:xfrm>
              <a:off x="0" y="-19050"/>
              <a:ext cx="812800" cy="132705"/>
            </a:xfrm>
            <a:prstGeom prst="rect">
              <a:avLst/>
            </a:prstGeom>
          </p:spPr>
          <p:txBody>
            <a:bodyPr anchor="ctr" rtlCol="false" tIns="50800" lIns="50800" bIns="50800" rIns="50800"/>
            <a:lstStyle/>
            <a:p>
              <a:pPr algn="ctr">
                <a:lnSpc>
                  <a:spcPts val="2510"/>
                </a:lnSpc>
              </a:pPr>
            </a:p>
          </p:txBody>
        </p:sp>
      </p:grpSp>
      <p:sp>
        <p:nvSpPr>
          <p:cNvPr name="TextBox 38" id="38"/>
          <p:cNvSpPr txBox="true"/>
          <p:nvPr/>
        </p:nvSpPr>
        <p:spPr>
          <a:xfrm rot="0">
            <a:off x="5326042" y="7001850"/>
            <a:ext cx="118110" cy="465266"/>
          </a:xfrm>
          <a:prstGeom prst="rect">
            <a:avLst/>
          </a:prstGeom>
        </p:spPr>
        <p:txBody>
          <a:bodyPr anchor="t" rtlCol="false" tIns="0" lIns="0" bIns="0" rIns="0">
            <a:spAutoFit/>
          </a:bodyPr>
          <a:lstStyle/>
          <a:p>
            <a:pPr algn="ctr">
              <a:lnSpc>
                <a:spcPts val="3986"/>
              </a:lnSpc>
            </a:pPr>
            <a:r>
              <a:rPr lang="en-US" sz="2499">
                <a:solidFill>
                  <a:srgbClr val="FFFFFF"/>
                </a:solidFill>
                <a:latin typeface="Anantason"/>
                <a:ea typeface="Anantason"/>
                <a:cs typeface="Anantason"/>
                <a:sym typeface="Anantason"/>
              </a:rPr>
              <a:t>1</a:t>
            </a:r>
          </a:p>
        </p:txBody>
      </p:sp>
      <p:sp>
        <p:nvSpPr>
          <p:cNvPr name="TextBox 39" id="39"/>
          <p:cNvSpPr txBox="true"/>
          <p:nvPr/>
        </p:nvSpPr>
        <p:spPr>
          <a:xfrm rot="0">
            <a:off x="12902695" y="7027846"/>
            <a:ext cx="193119" cy="465266"/>
          </a:xfrm>
          <a:prstGeom prst="rect">
            <a:avLst/>
          </a:prstGeom>
        </p:spPr>
        <p:txBody>
          <a:bodyPr anchor="t" rtlCol="false" tIns="0" lIns="0" bIns="0" rIns="0">
            <a:spAutoFit/>
          </a:bodyPr>
          <a:lstStyle/>
          <a:p>
            <a:pPr algn="ctr">
              <a:lnSpc>
                <a:spcPts val="3986"/>
              </a:lnSpc>
            </a:pPr>
            <a:r>
              <a:rPr lang="en-US" sz="2499">
                <a:solidFill>
                  <a:srgbClr val="FFFFFF"/>
                </a:solidFill>
                <a:latin typeface="Anantason"/>
                <a:ea typeface="Anantason"/>
                <a:cs typeface="Anantason"/>
                <a:sym typeface="Anantason"/>
              </a:rPr>
              <a:t>2</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9F2F7"/>
        </a:solidFill>
      </p:bgPr>
    </p:bg>
    <p:spTree>
      <p:nvGrpSpPr>
        <p:cNvPr id="1" name=""/>
        <p:cNvGrpSpPr/>
        <p:nvPr/>
      </p:nvGrpSpPr>
      <p:grpSpPr>
        <a:xfrm>
          <a:off x="0" y="0"/>
          <a:ext cx="0" cy="0"/>
          <a:chOff x="0" y="0"/>
          <a:chExt cx="0" cy="0"/>
        </a:xfrm>
      </p:grpSpPr>
      <p:grpSp>
        <p:nvGrpSpPr>
          <p:cNvPr name="Group 2" id="2"/>
          <p:cNvGrpSpPr/>
          <p:nvPr/>
        </p:nvGrpSpPr>
        <p:grpSpPr>
          <a:xfrm rot="0">
            <a:off x="570777" y="664277"/>
            <a:ext cx="7314706" cy="9167365"/>
            <a:chOff x="0" y="0"/>
            <a:chExt cx="812800" cy="1018665"/>
          </a:xfrm>
        </p:grpSpPr>
        <p:sp>
          <p:nvSpPr>
            <p:cNvPr name="Freeform 3" id="3"/>
            <p:cNvSpPr/>
            <p:nvPr/>
          </p:nvSpPr>
          <p:spPr>
            <a:xfrm flipH="false" flipV="false" rot="0">
              <a:off x="0" y="0"/>
              <a:ext cx="812800" cy="1018665"/>
            </a:xfrm>
            <a:custGeom>
              <a:avLst/>
              <a:gdLst/>
              <a:ahLst/>
              <a:cxnLst/>
              <a:rect r="r" b="b" t="t" l="l"/>
              <a:pathLst>
                <a:path h="1018665" w="812800">
                  <a:moveTo>
                    <a:pt x="24343" y="0"/>
                  </a:moveTo>
                  <a:lnTo>
                    <a:pt x="788457" y="0"/>
                  </a:lnTo>
                  <a:cubicBezTo>
                    <a:pt x="801901" y="0"/>
                    <a:pt x="812800" y="10899"/>
                    <a:pt x="812800" y="24343"/>
                  </a:cubicBezTo>
                  <a:lnTo>
                    <a:pt x="812800" y="994322"/>
                  </a:lnTo>
                  <a:cubicBezTo>
                    <a:pt x="812800" y="1000778"/>
                    <a:pt x="810235" y="1006970"/>
                    <a:pt x="805670" y="1011535"/>
                  </a:cubicBezTo>
                  <a:cubicBezTo>
                    <a:pt x="801105" y="1016100"/>
                    <a:pt x="794913" y="1018665"/>
                    <a:pt x="788457" y="1018665"/>
                  </a:cubicBezTo>
                  <a:lnTo>
                    <a:pt x="24343" y="1018665"/>
                  </a:lnTo>
                  <a:cubicBezTo>
                    <a:pt x="10899" y="1018665"/>
                    <a:pt x="0" y="1007766"/>
                    <a:pt x="0" y="994322"/>
                  </a:cubicBezTo>
                  <a:lnTo>
                    <a:pt x="0" y="24343"/>
                  </a:lnTo>
                  <a:cubicBezTo>
                    <a:pt x="0" y="10899"/>
                    <a:pt x="10899" y="0"/>
                    <a:pt x="24343" y="0"/>
                  </a:cubicBezTo>
                  <a:close/>
                </a:path>
              </a:pathLst>
            </a:custGeom>
            <a:blipFill>
              <a:blip r:embed="rId2"/>
              <a:stretch>
                <a:fillRect l="-30596" t="0" r="-30596" b="0"/>
              </a:stretch>
            </a:blipFill>
          </p:spPr>
        </p:sp>
      </p:grpSp>
      <p:sp>
        <p:nvSpPr>
          <p:cNvPr name="Freeform 4" id="4"/>
          <p:cNvSpPr/>
          <p:nvPr/>
        </p:nvSpPr>
        <p:spPr>
          <a:xfrm flipH="false" flipV="false" rot="0">
            <a:off x="-624614" y="6515100"/>
            <a:ext cx="7059478" cy="4114800"/>
          </a:xfrm>
          <a:custGeom>
            <a:avLst/>
            <a:gdLst/>
            <a:ahLst/>
            <a:cxnLst/>
            <a:rect r="r" b="b" t="t" l="l"/>
            <a:pathLst>
              <a:path h="4114800" w="7059478">
                <a:moveTo>
                  <a:pt x="0" y="0"/>
                </a:moveTo>
                <a:lnTo>
                  <a:pt x="7059478" y="0"/>
                </a:lnTo>
                <a:lnTo>
                  <a:pt x="705947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true" rot="0">
            <a:off x="11924574" y="-357188"/>
            <a:ext cx="7059478" cy="4114800"/>
          </a:xfrm>
          <a:custGeom>
            <a:avLst/>
            <a:gdLst/>
            <a:ahLst/>
            <a:cxnLst/>
            <a:rect r="r" b="b" t="t" l="l"/>
            <a:pathLst>
              <a:path h="4114800" w="7059478">
                <a:moveTo>
                  <a:pt x="7059477" y="4114800"/>
                </a:moveTo>
                <a:lnTo>
                  <a:pt x="0" y="4114800"/>
                </a:lnTo>
                <a:lnTo>
                  <a:pt x="0" y="0"/>
                </a:lnTo>
                <a:lnTo>
                  <a:pt x="7059477" y="0"/>
                </a:lnTo>
                <a:lnTo>
                  <a:pt x="7059477"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5002168">
            <a:off x="-1455983" y="-3415755"/>
            <a:ext cx="5987226" cy="5998131"/>
          </a:xfrm>
          <a:custGeom>
            <a:avLst/>
            <a:gdLst/>
            <a:ahLst/>
            <a:cxnLst/>
            <a:rect r="r" b="b" t="t" l="l"/>
            <a:pathLst>
              <a:path h="5998131" w="5987226">
                <a:moveTo>
                  <a:pt x="0" y="0"/>
                </a:moveTo>
                <a:lnTo>
                  <a:pt x="5987226" y="0"/>
                </a:lnTo>
                <a:lnTo>
                  <a:pt x="5987226" y="5998131"/>
                </a:lnTo>
                <a:lnTo>
                  <a:pt x="0" y="599813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true" flipV="true" rot="-5002168">
            <a:off x="14705861" y="7923025"/>
            <a:ext cx="5987226" cy="5998131"/>
          </a:xfrm>
          <a:custGeom>
            <a:avLst/>
            <a:gdLst/>
            <a:ahLst/>
            <a:cxnLst/>
            <a:rect r="r" b="b" t="t" l="l"/>
            <a:pathLst>
              <a:path h="5998131" w="5987226">
                <a:moveTo>
                  <a:pt x="5987225" y="5998131"/>
                </a:moveTo>
                <a:lnTo>
                  <a:pt x="0" y="5998131"/>
                </a:lnTo>
                <a:lnTo>
                  <a:pt x="0" y="0"/>
                </a:lnTo>
                <a:lnTo>
                  <a:pt x="5987225" y="0"/>
                </a:lnTo>
                <a:lnTo>
                  <a:pt x="5987225" y="5998131"/>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7488824">
            <a:off x="-221065" y="7727724"/>
            <a:ext cx="3071030" cy="5804353"/>
          </a:xfrm>
          <a:custGeom>
            <a:avLst/>
            <a:gdLst/>
            <a:ahLst/>
            <a:cxnLst/>
            <a:rect r="r" b="b" t="t" l="l"/>
            <a:pathLst>
              <a:path h="5804353" w="3071030">
                <a:moveTo>
                  <a:pt x="0" y="0"/>
                </a:moveTo>
                <a:lnTo>
                  <a:pt x="3071030" y="0"/>
                </a:lnTo>
                <a:lnTo>
                  <a:pt x="3071030" y="5804352"/>
                </a:lnTo>
                <a:lnTo>
                  <a:pt x="0" y="58043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7488824">
            <a:off x="17178162" y="-1873476"/>
            <a:ext cx="3071030" cy="5804353"/>
          </a:xfrm>
          <a:custGeom>
            <a:avLst/>
            <a:gdLst/>
            <a:ahLst/>
            <a:cxnLst/>
            <a:rect r="r" b="b" t="t" l="l"/>
            <a:pathLst>
              <a:path h="5804353" w="3071030">
                <a:moveTo>
                  <a:pt x="0" y="0"/>
                </a:moveTo>
                <a:lnTo>
                  <a:pt x="3071030" y="0"/>
                </a:lnTo>
                <a:lnTo>
                  <a:pt x="3071030" y="5804352"/>
                </a:lnTo>
                <a:lnTo>
                  <a:pt x="0" y="58043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0" id="10"/>
          <p:cNvGrpSpPr/>
          <p:nvPr/>
        </p:nvGrpSpPr>
        <p:grpSpPr>
          <a:xfrm rot="0">
            <a:off x="8835828" y="1955133"/>
            <a:ext cx="6893571" cy="1693510"/>
            <a:chOff x="0" y="0"/>
            <a:chExt cx="9512964" cy="2337003"/>
          </a:xfrm>
        </p:grpSpPr>
        <p:sp>
          <p:nvSpPr>
            <p:cNvPr name="Freeform 11" id="11"/>
            <p:cNvSpPr/>
            <p:nvPr/>
          </p:nvSpPr>
          <p:spPr>
            <a:xfrm flipH="false" flipV="false" rot="0">
              <a:off x="5567" y="6350"/>
              <a:ext cx="9501774" cy="2324227"/>
            </a:xfrm>
            <a:custGeom>
              <a:avLst/>
              <a:gdLst/>
              <a:ahLst/>
              <a:cxnLst/>
              <a:rect r="r" b="b" t="t" l="l"/>
              <a:pathLst>
                <a:path h="2324227" w="9501774">
                  <a:moveTo>
                    <a:pt x="0" y="82042"/>
                  </a:moveTo>
                  <a:cubicBezTo>
                    <a:pt x="0" y="36703"/>
                    <a:pt x="32401" y="0"/>
                    <a:pt x="72263" y="0"/>
                  </a:cubicBezTo>
                  <a:lnTo>
                    <a:pt x="9429512" y="0"/>
                  </a:lnTo>
                  <a:cubicBezTo>
                    <a:pt x="9469485" y="0"/>
                    <a:pt x="9501774" y="36703"/>
                    <a:pt x="9501774" y="82042"/>
                  </a:cubicBezTo>
                  <a:lnTo>
                    <a:pt x="9501774" y="2242185"/>
                  </a:lnTo>
                  <a:cubicBezTo>
                    <a:pt x="9501774" y="2287524"/>
                    <a:pt x="9469373" y="2324227"/>
                    <a:pt x="9429512" y="2324227"/>
                  </a:cubicBezTo>
                  <a:lnTo>
                    <a:pt x="72263" y="2324227"/>
                  </a:lnTo>
                  <a:cubicBezTo>
                    <a:pt x="32290" y="2324227"/>
                    <a:pt x="0" y="2287524"/>
                    <a:pt x="0" y="2242185"/>
                  </a:cubicBezTo>
                  <a:close/>
                </a:path>
              </a:pathLst>
            </a:custGeom>
            <a:solidFill>
              <a:srgbClr val="0C3571"/>
            </a:solidFill>
            <a:ln w="12700">
              <a:solidFill>
                <a:srgbClr val="000000"/>
              </a:solidFill>
            </a:ln>
          </p:spPr>
        </p:sp>
        <p:sp>
          <p:nvSpPr>
            <p:cNvPr name="Freeform 12" id="12"/>
            <p:cNvSpPr/>
            <p:nvPr/>
          </p:nvSpPr>
          <p:spPr>
            <a:xfrm flipH="false" flipV="false" rot="0">
              <a:off x="0" y="0"/>
              <a:ext cx="9512908" cy="2336927"/>
            </a:xfrm>
            <a:custGeom>
              <a:avLst/>
              <a:gdLst/>
              <a:ahLst/>
              <a:cxnLst/>
              <a:rect r="r" b="b" t="t" l="l"/>
              <a:pathLst>
                <a:path h="2336927" w="9512908">
                  <a:moveTo>
                    <a:pt x="0" y="88392"/>
                  </a:moveTo>
                  <a:cubicBezTo>
                    <a:pt x="0" y="39624"/>
                    <a:pt x="34851" y="0"/>
                    <a:pt x="77830" y="0"/>
                  </a:cubicBezTo>
                  <a:lnTo>
                    <a:pt x="9435079" y="0"/>
                  </a:lnTo>
                  <a:lnTo>
                    <a:pt x="9435079" y="6350"/>
                  </a:lnTo>
                  <a:lnTo>
                    <a:pt x="9435079" y="0"/>
                  </a:lnTo>
                  <a:cubicBezTo>
                    <a:pt x="9478058" y="0"/>
                    <a:pt x="9512908" y="39624"/>
                    <a:pt x="9512908" y="88392"/>
                  </a:cubicBezTo>
                  <a:lnTo>
                    <a:pt x="9507341" y="88392"/>
                  </a:lnTo>
                  <a:lnTo>
                    <a:pt x="9512908" y="88392"/>
                  </a:lnTo>
                  <a:lnTo>
                    <a:pt x="9512908" y="2248535"/>
                  </a:lnTo>
                  <a:lnTo>
                    <a:pt x="9507341" y="2248535"/>
                  </a:lnTo>
                  <a:lnTo>
                    <a:pt x="9512908" y="2248535"/>
                  </a:lnTo>
                  <a:cubicBezTo>
                    <a:pt x="9512908" y="2297430"/>
                    <a:pt x="9478058" y="2336927"/>
                    <a:pt x="9435079" y="2336927"/>
                  </a:cubicBezTo>
                  <a:lnTo>
                    <a:pt x="9435079" y="2330577"/>
                  </a:lnTo>
                  <a:lnTo>
                    <a:pt x="9435079" y="2336927"/>
                  </a:lnTo>
                  <a:lnTo>
                    <a:pt x="77830" y="2336927"/>
                  </a:lnTo>
                  <a:lnTo>
                    <a:pt x="77830" y="2330577"/>
                  </a:lnTo>
                  <a:lnTo>
                    <a:pt x="77830" y="2336927"/>
                  </a:lnTo>
                  <a:cubicBezTo>
                    <a:pt x="34851" y="2336927"/>
                    <a:pt x="0" y="2297303"/>
                    <a:pt x="0" y="2248535"/>
                  </a:cubicBezTo>
                  <a:lnTo>
                    <a:pt x="0" y="88392"/>
                  </a:lnTo>
                  <a:lnTo>
                    <a:pt x="5567" y="88392"/>
                  </a:lnTo>
                  <a:lnTo>
                    <a:pt x="0" y="88392"/>
                  </a:lnTo>
                  <a:moveTo>
                    <a:pt x="11134" y="88392"/>
                  </a:moveTo>
                  <a:lnTo>
                    <a:pt x="11134" y="2248535"/>
                  </a:lnTo>
                  <a:lnTo>
                    <a:pt x="5567" y="2248535"/>
                  </a:lnTo>
                  <a:lnTo>
                    <a:pt x="11134" y="2248535"/>
                  </a:lnTo>
                  <a:cubicBezTo>
                    <a:pt x="11134" y="2290318"/>
                    <a:pt x="40975" y="2324227"/>
                    <a:pt x="77830" y="2324227"/>
                  </a:cubicBezTo>
                  <a:lnTo>
                    <a:pt x="9435079" y="2324227"/>
                  </a:lnTo>
                  <a:cubicBezTo>
                    <a:pt x="9471934" y="2324227"/>
                    <a:pt x="9501774" y="2290318"/>
                    <a:pt x="9501774" y="2248535"/>
                  </a:cubicBezTo>
                  <a:lnTo>
                    <a:pt x="9501774" y="88392"/>
                  </a:lnTo>
                  <a:cubicBezTo>
                    <a:pt x="9501774" y="46609"/>
                    <a:pt x="9471934" y="12700"/>
                    <a:pt x="9435079" y="12700"/>
                  </a:cubicBezTo>
                  <a:lnTo>
                    <a:pt x="77830" y="12700"/>
                  </a:lnTo>
                  <a:lnTo>
                    <a:pt x="77830" y="6350"/>
                  </a:lnTo>
                  <a:lnTo>
                    <a:pt x="77830" y="12700"/>
                  </a:lnTo>
                  <a:cubicBezTo>
                    <a:pt x="40975" y="12700"/>
                    <a:pt x="11134" y="46609"/>
                    <a:pt x="11134" y="88392"/>
                  </a:cubicBezTo>
                  <a:close/>
                </a:path>
              </a:pathLst>
            </a:custGeom>
            <a:solidFill>
              <a:srgbClr val="481C9E"/>
            </a:solidFill>
            <a:ln w="12700">
              <a:solidFill>
                <a:srgbClr val="000000"/>
              </a:solidFill>
            </a:ln>
          </p:spPr>
        </p:sp>
      </p:grpSp>
      <p:grpSp>
        <p:nvGrpSpPr>
          <p:cNvPr name="Group 13" id="13"/>
          <p:cNvGrpSpPr/>
          <p:nvPr/>
        </p:nvGrpSpPr>
        <p:grpSpPr>
          <a:xfrm rot="0">
            <a:off x="8835828" y="3781075"/>
            <a:ext cx="6893571" cy="1562134"/>
            <a:chOff x="0" y="0"/>
            <a:chExt cx="9512964" cy="2155708"/>
          </a:xfrm>
        </p:grpSpPr>
        <p:sp>
          <p:nvSpPr>
            <p:cNvPr name="Freeform 14" id="14"/>
            <p:cNvSpPr/>
            <p:nvPr/>
          </p:nvSpPr>
          <p:spPr>
            <a:xfrm flipH="false" flipV="false" rot="0">
              <a:off x="5567" y="6762"/>
              <a:ext cx="9501886" cy="2142170"/>
            </a:xfrm>
            <a:custGeom>
              <a:avLst/>
              <a:gdLst/>
              <a:ahLst/>
              <a:cxnLst/>
              <a:rect r="r" b="b" t="t" l="l"/>
              <a:pathLst>
                <a:path h="2142170" w="9501886">
                  <a:moveTo>
                    <a:pt x="0" y="87370"/>
                  </a:moveTo>
                  <a:cubicBezTo>
                    <a:pt x="0" y="39087"/>
                    <a:pt x="32401" y="0"/>
                    <a:pt x="72374" y="0"/>
                  </a:cubicBezTo>
                  <a:lnTo>
                    <a:pt x="9429512" y="0"/>
                  </a:lnTo>
                  <a:cubicBezTo>
                    <a:pt x="9469485" y="0"/>
                    <a:pt x="9501886" y="39087"/>
                    <a:pt x="9501886" y="87370"/>
                  </a:cubicBezTo>
                  <a:lnTo>
                    <a:pt x="9501886" y="2054801"/>
                  </a:lnTo>
                  <a:cubicBezTo>
                    <a:pt x="9501886" y="2103084"/>
                    <a:pt x="9469485" y="2142171"/>
                    <a:pt x="9429512" y="2142171"/>
                  </a:cubicBezTo>
                  <a:lnTo>
                    <a:pt x="72374" y="2142171"/>
                  </a:lnTo>
                  <a:cubicBezTo>
                    <a:pt x="32401" y="2142171"/>
                    <a:pt x="0" y="2103084"/>
                    <a:pt x="0" y="2054801"/>
                  </a:cubicBezTo>
                  <a:close/>
                </a:path>
              </a:pathLst>
            </a:custGeom>
            <a:solidFill>
              <a:srgbClr val="0C3571"/>
            </a:solidFill>
            <a:ln w="12700">
              <a:solidFill>
                <a:srgbClr val="000000"/>
              </a:solidFill>
            </a:ln>
          </p:spPr>
        </p:sp>
        <p:sp>
          <p:nvSpPr>
            <p:cNvPr name="Freeform 15" id="15"/>
            <p:cNvSpPr/>
            <p:nvPr/>
          </p:nvSpPr>
          <p:spPr>
            <a:xfrm flipH="false" flipV="false" rot="0">
              <a:off x="0" y="0"/>
              <a:ext cx="9513028" cy="2155695"/>
            </a:xfrm>
            <a:custGeom>
              <a:avLst/>
              <a:gdLst/>
              <a:ahLst/>
              <a:cxnLst/>
              <a:rect r="r" b="b" t="t" l="l"/>
              <a:pathLst>
                <a:path h="2155695" w="9513028">
                  <a:moveTo>
                    <a:pt x="0" y="94132"/>
                  </a:moveTo>
                  <a:cubicBezTo>
                    <a:pt x="0" y="42197"/>
                    <a:pt x="34962" y="0"/>
                    <a:pt x="77941" y="0"/>
                  </a:cubicBezTo>
                  <a:lnTo>
                    <a:pt x="9435079" y="0"/>
                  </a:lnTo>
                  <a:lnTo>
                    <a:pt x="9435079" y="6762"/>
                  </a:lnTo>
                  <a:lnTo>
                    <a:pt x="9435079" y="0"/>
                  </a:lnTo>
                  <a:cubicBezTo>
                    <a:pt x="9478058" y="0"/>
                    <a:pt x="9513028" y="42197"/>
                    <a:pt x="9513028" y="94132"/>
                  </a:cubicBezTo>
                  <a:lnTo>
                    <a:pt x="9507453" y="94132"/>
                  </a:lnTo>
                  <a:lnTo>
                    <a:pt x="9513028" y="94132"/>
                  </a:lnTo>
                  <a:lnTo>
                    <a:pt x="9513028" y="2061563"/>
                  </a:lnTo>
                  <a:lnTo>
                    <a:pt x="9507453" y="2061563"/>
                  </a:lnTo>
                  <a:lnTo>
                    <a:pt x="9513028" y="2061563"/>
                  </a:lnTo>
                  <a:cubicBezTo>
                    <a:pt x="9513028" y="2113633"/>
                    <a:pt x="9478058" y="2155695"/>
                    <a:pt x="9435079" y="2155695"/>
                  </a:cubicBezTo>
                  <a:lnTo>
                    <a:pt x="9435079" y="2148933"/>
                  </a:lnTo>
                  <a:lnTo>
                    <a:pt x="9435079" y="2155695"/>
                  </a:lnTo>
                  <a:lnTo>
                    <a:pt x="77941" y="2155695"/>
                  </a:lnTo>
                  <a:lnTo>
                    <a:pt x="77941" y="2148933"/>
                  </a:lnTo>
                  <a:lnTo>
                    <a:pt x="77941" y="2155695"/>
                  </a:lnTo>
                  <a:cubicBezTo>
                    <a:pt x="34962" y="2155695"/>
                    <a:pt x="0" y="2113498"/>
                    <a:pt x="0" y="2061563"/>
                  </a:cubicBezTo>
                  <a:lnTo>
                    <a:pt x="0" y="94132"/>
                  </a:lnTo>
                  <a:lnTo>
                    <a:pt x="5567" y="94132"/>
                  </a:lnTo>
                  <a:lnTo>
                    <a:pt x="0" y="94132"/>
                  </a:lnTo>
                  <a:moveTo>
                    <a:pt x="11134" y="94132"/>
                  </a:moveTo>
                  <a:lnTo>
                    <a:pt x="11134" y="2061563"/>
                  </a:lnTo>
                  <a:lnTo>
                    <a:pt x="5567" y="2061563"/>
                  </a:lnTo>
                  <a:lnTo>
                    <a:pt x="11134" y="2061563"/>
                  </a:lnTo>
                  <a:cubicBezTo>
                    <a:pt x="11134" y="2106059"/>
                    <a:pt x="40975" y="2142170"/>
                    <a:pt x="77941" y="2142170"/>
                  </a:cubicBezTo>
                  <a:lnTo>
                    <a:pt x="9435079" y="2142170"/>
                  </a:lnTo>
                  <a:cubicBezTo>
                    <a:pt x="9471934" y="2142170"/>
                    <a:pt x="9501886" y="2106059"/>
                    <a:pt x="9501886" y="2061563"/>
                  </a:cubicBezTo>
                  <a:lnTo>
                    <a:pt x="9501886" y="94132"/>
                  </a:lnTo>
                  <a:cubicBezTo>
                    <a:pt x="9501886" y="49635"/>
                    <a:pt x="9472046" y="13525"/>
                    <a:pt x="9435079" y="13525"/>
                  </a:cubicBezTo>
                  <a:lnTo>
                    <a:pt x="77941" y="13525"/>
                  </a:lnTo>
                  <a:lnTo>
                    <a:pt x="77941" y="6762"/>
                  </a:lnTo>
                  <a:lnTo>
                    <a:pt x="77941" y="13525"/>
                  </a:lnTo>
                  <a:cubicBezTo>
                    <a:pt x="40975" y="13525"/>
                    <a:pt x="11134" y="49635"/>
                    <a:pt x="11134" y="94132"/>
                  </a:cubicBezTo>
                  <a:close/>
                </a:path>
              </a:pathLst>
            </a:custGeom>
            <a:solidFill>
              <a:srgbClr val="481C9E"/>
            </a:solidFill>
            <a:ln w="12700">
              <a:solidFill>
                <a:srgbClr val="000000"/>
              </a:solidFill>
            </a:ln>
          </p:spPr>
        </p:sp>
      </p:grpSp>
      <p:grpSp>
        <p:nvGrpSpPr>
          <p:cNvPr name="Group 16" id="16"/>
          <p:cNvGrpSpPr/>
          <p:nvPr/>
        </p:nvGrpSpPr>
        <p:grpSpPr>
          <a:xfrm rot="0">
            <a:off x="8835828" y="5495609"/>
            <a:ext cx="6893571" cy="1693510"/>
            <a:chOff x="0" y="0"/>
            <a:chExt cx="9512964" cy="2337003"/>
          </a:xfrm>
        </p:grpSpPr>
        <p:sp>
          <p:nvSpPr>
            <p:cNvPr name="Freeform 17" id="17"/>
            <p:cNvSpPr/>
            <p:nvPr/>
          </p:nvSpPr>
          <p:spPr>
            <a:xfrm flipH="false" flipV="false" rot="0">
              <a:off x="5567" y="6350"/>
              <a:ext cx="9501774" cy="2324227"/>
            </a:xfrm>
            <a:custGeom>
              <a:avLst/>
              <a:gdLst/>
              <a:ahLst/>
              <a:cxnLst/>
              <a:rect r="r" b="b" t="t" l="l"/>
              <a:pathLst>
                <a:path h="2324227" w="9501774">
                  <a:moveTo>
                    <a:pt x="0" y="82042"/>
                  </a:moveTo>
                  <a:cubicBezTo>
                    <a:pt x="0" y="36703"/>
                    <a:pt x="32401" y="0"/>
                    <a:pt x="72263" y="0"/>
                  </a:cubicBezTo>
                  <a:lnTo>
                    <a:pt x="9429512" y="0"/>
                  </a:lnTo>
                  <a:cubicBezTo>
                    <a:pt x="9469485" y="0"/>
                    <a:pt x="9501774" y="36703"/>
                    <a:pt x="9501774" y="82042"/>
                  </a:cubicBezTo>
                  <a:lnTo>
                    <a:pt x="9501774" y="2242185"/>
                  </a:lnTo>
                  <a:cubicBezTo>
                    <a:pt x="9501774" y="2287524"/>
                    <a:pt x="9469373" y="2324227"/>
                    <a:pt x="9429512" y="2324227"/>
                  </a:cubicBezTo>
                  <a:lnTo>
                    <a:pt x="72263" y="2324227"/>
                  </a:lnTo>
                  <a:cubicBezTo>
                    <a:pt x="32290" y="2324227"/>
                    <a:pt x="0" y="2287524"/>
                    <a:pt x="0" y="2242185"/>
                  </a:cubicBezTo>
                  <a:close/>
                </a:path>
              </a:pathLst>
            </a:custGeom>
            <a:solidFill>
              <a:srgbClr val="0C3571"/>
            </a:solidFill>
            <a:ln w="12700">
              <a:solidFill>
                <a:srgbClr val="000000"/>
              </a:solidFill>
            </a:ln>
          </p:spPr>
        </p:sp>
        <p:sp>
          <p:nvSpPr>
            <p:cNvPr name="Freeform 18" id="18"/>
            <p:cNvSpPr/>
            <p:nvPr/>
          </p:nvSpPr>
          <p:spPr>
            <a:xfrm flipH="false" flipV="false" rot="0">
              <a:off x="0" y="0"/>
              <a:ext cx="9512908" cy="2336927"/>
            </a:xfrm>
            <a:custGeom>
              <a:avLst/>
              <a:gdLst/>
              <a:ahLst/>
              <a:cxnLst/>
              <a:rect r="r" b="b" t="t" l="l"/>
              <a:pathLst>
                <a:path h="2336927" w="9512908">
                  <a:moveTo>
                    <a:pt x="0" y="88392"/>
                  </a:moveTo>
                  <a:cubicBezTo>
                    <a:pt x="0" y="39624"/>
                    <a:pt x="34851" y="0"/>
                    <a:pt x="77830" y="0"/>
                  </a:cubicBezTo>
                  <a:lnTo>
                    <a:pt x="9435079" y="0"/>
                  </a:lnTo>
                  <a:lnTo>
                    <a:pt x="9435079" y="6350"/>
                  </a:lnTo>
                  <a:lnTo>
                    <a:pt x="9435079" y="0"/>
                  </a:lnTo>
                  <a:cubicBezTo>
                    <a:pt x="9478058" y="0"/>
                    <a:pt x="9512908" y="39624"/>
                    <a:pt x="9512908" y="88392"/>
                  </a:cubicBezTo>
                  <a:lnTo>
                    <a:pt x="9507341" y="88392"/>
                  </a:lnTo>
                  <a:lnTo>
                    <a:pt x="9512908" y="88392"/>
                  </a:lnTo>
                  <a:lnTo>
                    <a:pt x="9512908" y="2248535"/>
                  </a:lnTo>
                  <a:lnTo>
                    <a:pt x="9507341" y="2248535"/>
                  </a:lnTo>
                  <a:lnTo>
                    <a:pt x="9512908" y="2248535"/>
                  </a:lnTo>
                  <a:cubicBezTo>
                    <a:pt x="9512908" y="2297430"/>
                    <a:pt x="9478058" y="2336927"/>
                    <a:pt x="9435079" y="2336927"/>
                  </a:cubicBezTo>
                  <a:lnTo>
                    <a:pt x="9435079" y="2330577"/>
                  </a:lnTo>
                  <a:lnTo>
                    <a:pt x="9435079" y="2336927"/>
                  </a:lnTo>
                  <a:lnTo>
                    <a:pt x="77830" y="2336927"/>
                  </a:lnTo>
                  <a:lnTo>
                    <a:pt x="77830" y="2330577"/>
                  </a:lnTo>
                  <a:lnTo>
                    <a:pt x="77830" y="2336927"/>
                  </a:lnTo>
                  <a:cubicBezTo>
                    <a:pt x="34851" y="2336927"/>
                    <a:pt x="0" y="2297303"/>
                    <a:pt x="0" y="2248535"/>
                  </a:cubicBezTo>
                  <a:lnTo>
                    <a:pt x="0" y="88392"/>
                  </a:lnTo>
                  <a:lnTo>
                    <a:pt x="5567" y="88392"/>
                  </a:lnTo>
                  <a:lnTo>
                    <a:pt x="0" y="88392"/>
                  </a:lnTo>
                  <a:moveTo>
                    <a:pt x="11134" y="88392"/>
                  </a:moveTo>
                  <a:lnTo>
                    <a:pt x="11134" y="2248535"/>
                  </a:lnTo>
                  <a:lnTo>
                    <a:pt x="5567" y="2248535"/>
                  </a:lnTo>
                  <a:lnTo>
                    <a:pt x="11134" y="2248535"/>
                  </a:lnTo>
                  <a:cubicBezTo>
                    <a:pt x="11134" y="2290318"/>
                    <a:pt x="40975" y="2324227"/>
                    <a:pt x="77830" y="2324227"/>
                  </a:cubicBezTo>
                  <a:lnTo>
                    <a:pt x="9435079" y="2324227"/>
                  </a:lnTo>
                  <a:cubicBezTo>
                    <a:pt x="9471934" y="2324227"/>
                    <a:pt x="9501774" y="2290318"/>
                    <a:pt x="9501774" y="2248535"/>
                  </a:cubicBezTo>
                  <a:lnTo>
                    <a:pt x="9501774" y="88392"/>
                  </a:lnTo>
                  <a:cubicBezTo>
                    <a:pt x="9501774" y="46609"/>
                    <a:pt x="9471934" y="12700"/>
                    <a:pt x="9435079" y="12700"/>
                  </a:cubicBezTo>
                  <a:lnTo>
                    <a:pt x="77830" y="12700"/>
                  </a:lnTo>
                  <a:lnTo>
                    <a:pt x="77830" y="6350"/>
                  </a:lnTo>
                  <a:lnTo>
                    <a:pt x="77830" y="12700"/>
                  </a:lnTo>
                  <a:cubicBezTo>
                    <a:pt x="40975" y="12700"/>
                    <a:pt x="11134" y="46609"/>
                    <a:pt x="11134" y="88392"/>
                  </a:cubicBezTo>
                  <a:close/>
                </a:path>
              </a:pathLst>
            </a:custGeom>
            <a:solidFill>
              <a:srgbClr val="481C9E"/>
            </a:solidFill>
            <a:ln w="12700">
              <a:solidFill>
                <a:srgbClr val="000000"/>
              </a:solidFill>
            </a:ln>
          </p:spPr>
        </p:sp>
      </p:grpSp>
      <p:grpSp>
        <p:nvGrpSpPr>
          <p:cNvPr name="Group 19" id="19"/>
          <p:cNvGrpSpPr/>
          <p:nvPr/>
        </p:nvGrpSpPr>
        <p:grpSpPr>
          <a:xfrm rot="0">
            <a:off x="8835828" y="7321551"/>
            <a:ext cx="6893571" cy="1693510"/>
            <a:chOff x="0" y="0"/>
            <a:chExt cx="9512964" cy="2337003"/>
          </a:xfrm>
        </p:grpSpPr>
        <p:sp>
          <p:nvSpPr>
            <p:cNvPr name="Freeform 20" id="20"/>
            <p:cNvSpPr/>
            <p:nvPr/>
          </p:nvSpPr>
          <p:spPr>
            <a:xfrm flipH="false" flipV="false" rot="0">
              <a:off x="5567" y="6350"/>
              <a:ext cx="9501774" cy="2324227"/>
            </a:xfrm>
            <a:custGeom>
              <a:avLst/>
              <a:gdLst/>
              <a:ahLst/>
              <a:cxnLst/>
              <a:rect r="r" b="b" t="t" l="l"/>
              <a:pathLst>
                <a:path h="2324227" w="9501774">
                  <a:moveTo>
                    <a:pt x="0" y="82042"/>
                  </a:moveTo>
                  <a:cubicBezTo>
                    <a:pt x="0" y="36703"/>
                    <a:pt x="32401" y="0"/>
                    <a:pt x="72263" y="0"/>
                  </a:cubicBezTo>
                  <a:lnTo>
                    <a:pt x="9429512" y="0"/>
                  </a:lnTo>
                  <a:cubicBezTo>
                    <a:pt x="9469485" y="0"/>
                    <a:pt x="9501774" y="36703"/>
                    <a:pt x="9501774" y="82042"/>
                  </a:cubicBezTo>
                  <a:lnTo>
                    <a:pt x="9501774" y="2242185"/>
                  </a:lnTo>
                  <a:cubicBezTo>
                    <a:pt x="9501774" y="2287524"/>
                    <a:pt x="9469373" y="2324227"/>
                    <a:pt x="9429512" y="2324227"/>
                  </a:cubicBezTo>
                  <a:lnTo>
                    <a:pt x="72263" y="2324227"/>
                  </a:lnTo>
                  <a:cubicBezTo>
                    <a:pt x="32290" y="2324227"/>
                    <a:pt x="0" y="2287524"/>
                    <a:pt x="0" y="2242185"/>
                  </a:cubicBezTo>
                  <a:close/>
                </a:path>
              </a:pathLst>
            </a:custGeom>
            <a:solidFill>
              <a:srgbClr val="0C3571"/>
            </a:solidFill>
            <a:ln w="12700">
              <a:solidFill>
                <a:srgbClr val="000000"/>
              </a:solidFill>
            </a:ln>
          </p:spPr>
        </p:sp>
        <p:sp>
          <p:nvSpPr>
            <p:cNvPr name="Freeform 21" id="21"/>
            <p:cNvSpPr/>
            <p:nvPr/>
          </p:nvSpPr>
          <p:spPr>
            <a:xfrm flipH="false" flipV="false" rot="0">
              <a:off x="0" y="0"/>
              <a:ext cx="9512908" cy="2336927"/>
            </a:xfrm>
            <a:custGeom>
              <a:avLst/>
              <a:gdLst/>
              <a:ahLst/>
              <a:cxnLst/>
              <a:rect r="r" b="b" t="t" l="l"/>
              <a:pathLst>
                <a:path h="2336927" w="9512908">
                  <a:moveTo>
                    <a:pt x="0" y="88392"/>
                  </a:moveTo>
                  <a:cubicBezTo>
                    <a:pt x="0" y="39624"/>
                    <a:pt x="34851" y="0"/>
                    <a:pt x="77830" y="0"/>
                  </a:cubicBezTo>
                  <a:lnTo>
                    <a:pt x="9435079" y="0"/>
                  </a:lnTo>
                  <a:lnTo>
                    <a:pt x="9435079" y="6350"/>
                  </a:lnTo>
                  <a:lnTo>
                    <a:pt x="9435079" y="0"/>
                  </a:lnTo>
                  <a:cubicBezTo>
                    <a:pt x="9478058" y="0"/>
                    <a:pt x="9512908" y="39624"/>
                    <a:pt x="9512908" y="88392"/>
                  </a:cubicBezTo>
                  <a:lnTo>
                    <a:pt x="9507341" y="88392"/>
                  </a:lnTo>
                  <a:lnTo>
                    <a:pt x="9512908" y="88392"/>
                  </a:lnTo>
                  <a:lnTo>
                    <a:pt x="9512908" y="2248535"/>
                  </a:lnTo>
                  <a:lnTo>
                    <a:pt x="9507341" y="2248535"/>
                  </a:lnTo>
                  <a:lnTo>
                    <a:pt x="9512908" y="2248535"/>
                  </a:lnTo>
                  <a:cubicBezTo>
                    <a:pt x="9512908" y="2297430"/>
                    <a:pt x="9478058" y="2336927"/>
                    <a:pt x="9435079" y="2336927"/>
                  </a:cubicBezTo>
                  <a:lnTo>
                    <a:pt x="9435079" y="2330577"/>
                  </a:lnTo>
                  <a:lnTo>
                    <a:pt x="9435079" y="2336927"/>
                  </a:lnTo>
                  <a:lnTo>
                    <a:pt x="77830" y="2336927"/>
                  </a:lnTo>
                  <a:lnTo>
                    <a:pt x="77830" y="2330577"/>
                  </a:lnTo>
                  <a:lnTo>
                    <a:pt x="77830" y="2336927"/>
                  </a:lnTo>
                  <a:cubicBezTo>
                    <a:pt x="34851" y="2336927"/>
                    <a:pt x="0" y="2297303"/>
                    <a:pt x="0" y="2248535"/>
                  </a:cubicBezTo>
                  <a:lnTo>
                    <a:pt x="0" y="88392"/>
                  </a:lnTo>
                  <a:lnTo>
                    <a:pt x="5567" y="88392"/>
                  </a:lnTo>
                  <a:lnTo>
                    <a:pt x="0" y="88392"/>
                  </a:lnTo>
                  <a:moveTo>
                    <a:pt x="11134" y="88392"/>
                  </a:moveTo>
                  <a:lnTo>
                    <a:pt x="11134" y="2248535"/>
                  </a:lnTo>
                  <a:lnTo>
                    <a:pt x="5567" y="2248535"/>
                  </a:lnTo>
                  <a:lnTo>
                    <a:pt x="11134" y="2248535"/>
                  </a:lnTo>
                  <a:cubicBezTo>
                    <a:pt x="11134" y="2290318"/>
                    <a:pt x="40975" y="2324227"/>
                    <a:pt x="77830" y="2324227"/>
                  </a:cubicBezTo>
                  <a:lnTo>
                    <a:pt x="9435079" y="2324227"/>
                  </a:lnTo>
                  <a:cubicBezTo>
                    <a:pt x="9471934" y="2324227"/>
                    <a:pt x="9501774" y="2290318"/>
                    <a:pt x="9501774" y="2248535"/>
                  </a:cubicBezTo>
                  <a:lnTo>
                    <a:pt x="9501774" y="88392"/>
                  </a:lnTo>
                  <a:cubicBezTo>
                    <a:pt x="9501774" y="46609"/>
                    <a:pt x="9471934" y="12700"/>
                    <a:pt x="9435079" y="12700"/>
                  </a:cubicBezTo>
                  <a:lnTo>
                    <a:pt x="77830" y="12700"/>
                  </a:lnTo>
                  <a:lnTo>
                    <a:pt x="77830" y="6350"/>
                  </a:lnTo>
                  <a:lnTo>
                    <a:pt x="77830" y="12700"/>
                  </a:lnTo>
                  <a:cubicBezTo>
                    <a:pt x="40975" y="12700"/>
                    <a:pt x="11134" y="46609"/>
                    <a:pt x="11134" y="88392"/>
                  </a:cubicBezTo>
                  <a:close/>
                </a:path>
              </a:pathLst>
            </a:custGeom>
            <a:solidFill>
              <a:srgbClr val="481C9E"/>
            </a:solidFill>
            <a:ln w="12700">
              <a:solidFill>
                <a:srgbClr val="000000"/>
              </a:solidFill>
            </a:ln>
          </p:spPr>
        </p:sp>
      </p:grpSp>
      <p:grpSp>
        <p:nvGrpSpPr>
          <p:cNvPr name="Group 22" id="22"/>
          <p:cNvGrpSpPr/>
          <p:nvPr/>
        </p:nvGrpSpPr>
        <p:grpSpPr>
          <a:xfrm rot="0">
            <a:off x="8993721" y="2006155"/>
            <a:ext cx="459493" cy="459493"/>
            <a:chOff x="0" y="0"/>
            <a:chExt cx="586384" cy="586384"/>
          </a:xfrm>
        </p:grpSpPr>
        <p:sp>
          <p:nvSpPr>
            <p:cNvPr name="Freeform 23" id="23"/>
            <p:cNvSpPr/>
            <p:nvPr/>
          </p:nvSpPr>
          <p:spPr>
            <a:xfrm flipH="false" flipV="false" rot="0">
              <a:off x="0" y="0"/>
              <a:ext cx="586359" cy="586359"/>
            </a:xfrm>
            <a:custGeom>
              <a:avLst/>
              <a:gdLst/>
              <a:ahLst/>
              <a:cxnLst/>
              <a:rect r="r" b="b" t="t" l="l"/>
              <a:pathLst>
                <a:path h="586359" w="586359">
                  <a:moveTo>
                    <a:pt x="0" y="293243"/>
                  </a:moveTo>
                  <a:cubicBezTo>
                    <a:pt x="0" y="131318"/>
                    <a:pt x="131318" y="0"/>
                    <a:pt x="293243" y="0"/>
                  </a:cubicBezTo>
                  <a:cubicBezTo>
                    <a:pt x="455168" y="0"/>
                    <a:pt x="586359" y="131318"/>
                    <a:pt x="586359" y="293243"/>
                  </a:cubicBezTo>
                  <a:cubicBezTo>
                    <a:pt x="586359" y="455168"/>
                    <a:pt x="455168" y="586359"/>
                    <a:pt x="293243" y="586359"/>
                  </a:cubicBezTo>
                  <a:cubicBezTo>
                    <a:pt x="131318" y="586359"/>
                    <a:pt x="0" y="455168"/>
                    <a:pt x="0" y="293243"/>
                  </a:cubicBezTo>
                  <a:close/>
                </a:path>
              </a:pathLst>
            </a:custGeom>
            <a:solidFill>
              <a:srgbClr val="07488F"/>
            </a:solidFill>
            <a:ln w="12700">
              <a:solidFill>
                <a:srgbClr val="000000"/>
              </a:solidFill>
            </a:ln>
          </p:spPr>
        </p:sp>
      </p:grpSp>
      <p:sp>
        <p:nvSpPr>
          <p:cNvPr name="Freeform 24" id="24" descr="preencoded.png"/>
          <p:cNvSpPr/>
          <p:nvPr/>
        </p:nvSpPr>
        <p:spPr>
          <a:xfrm flipH="false" flipV="false" rot="0">
            <a:off x="9064545" y="2081946"/>
            <a:ext cx="307912" cy="307912"/>
          </a:xfrm>
          <a:custGeom>
            <a:avLst/>
            <a:gdLst/>
            <a:ahLst/>
            <a:cxnLst/>
            <a:rect r="r" b="b" t="t" l="l"/>
            <a:pathLst>
              <a:path h="307912" w="307912">
                <a:moveTo>
                  <a:pt x="0" y="0"/>
                </a:moveTo>
                <a:lnTo>
                  <a:pt x="307912" y="0"/>
                </a:lnTo>
                <a:lnTo>
                  <a:pt x="307912" y="307911"/>
                </a:lnTo>
                <a:lnTo>
                  <a:pt x="0" y="307911"/>
                </a:lnTo>
                <a:lnTo>
                  <a:pt x="0" y="0"/>
                </a:lnTo>
                <a:close/>
              </a:path>
            </a:pathLst>
          </a:custGeom>
          <a:blipFill>
            <a:blip r:embed="rId9">
              <a:extLst>
                <a:ext uri="{96DAC541-7B7A-43D3-8B79-37D633B846F1}">
                  <asvg:svgBlip xmlns:asvg="http://schemas.microsoft.com/office/drawing/2016/SVG/main" r:embed="rId10"/>
                </a:ext>
              </a:extLst>
            </a:blip>
            <a:stretch>
              <a:fillRect l="-2378" t="0" r="-2378" b="0"/>
            </a:stretch>
          </a:blipFill>
        </p:spPr>
      </p:sp>
      <p:grpSp>
        <p:nvGrpSpPr>
          <p:cNvPr name="Group 25" id="25"/>
          <p:cNvGrpSpPr/>
          <p:nvPr/>
        </p:nvGrpSpPr>
        <p:grpSpPr>
          <a:xfrm rot="0">
            <a:off x="8993731" y="3849669"/>
            <a:ext cx="459493" cy="459493"/>
            <a:chOff x="0" y="0"/>
            <a:chExt cx="586384" cy="586384"/>
          </a:xfrm>
        </p:grpSpPr>
        <p:sp>
          <p:nvSpPr>
            <p:cNvPr name="Freeform 26" id="26"/>
            <p:cNvSpPr/>
            <p:nvPr/>
          </p:nvSpPr>
          <p:spPr>
            <a:xfrm flipH="false" flipV="false" rot="0">
              <a:off x="0" y="0"/>
              <a:ext cx="586359" cy="586359"/>
            </a:xfrm>
            <a:custGeom>
              <a:avLst/>
              <a:gdLst/>
              <a:ahLst/>
              <a:cxnLst/>
              <a:rect r="r" b="b" t="t" l="l"/>
              <a:pathLst>
                <a:path h="586359" w="586359">
                  <a:moveTo>
                    <a:pt x="0" y="293243"/>
                  </a:moveTo>
                  <a:cubicBezTo>
                    <a:pt x="0" y="131318"/>
                    <a:pt x="131318" y="0"/>
                    <a:pt x="293243" y="0"/>
                  </a:cubicBezTo>
                  <a:cubicBezTo>
                    <a:pt x="455168" y="0"/>
                    <a:pt x="586359" y="131318"/>
                    <a:pt x="586359" y="293243"/>
                  </a:cubicBezTo>
                  <a:cubicBezTo>
                    <a:pt x="586359" y="455168"/>
                    <a:pt x="455168" y="586359"/>
                    <a:pt x="293243" y="586359"/>
                  </a:cubicBezTo>
                  <a:cubicBezTo>
                    <a:pt x="131318" y="586359"/>
                    <a:pt x="0" y="455168"/>
                    <a:pt x="0" y="293243"/>
                  </a:cubicBezTo>
                  <a:close/>
                </a:path>
              </a:pathLst>
            </a:custGeom>
            <a:solidFill>
              <a:srgbClr val="07488F"/>
            </a:solidFill>
            <a:ln w="12700">
              <a:solidFill>
                <a:srgbClr val="000000"/>
              </a:solidFill>
            </a:ln>
          </p:spPr>
        </p:sp>
      </p:grpSp>
      <p:sp>
        <p:nvSpPr>
          <p:cNvPr name="Freeform 27" id="27" descr="preencoded.png"/>
          <p:cNvSpPr/>
          <p:nvPr/>
        </p:nvSpPr>
        <p:spPr>
          <a:xfrm flipH="false" flipV="false" rot="0">
            <a:off x="9081168" y="3945427"/>
            <a:ext cx="284659" cy="284659"/>
          </a:xfrm>
          <a:custGeom>
            <a:avLst/>
            <a:gdLst/>
            <a:ahLst/>
            <a:cxnLst/>
            <a:rect r="r" b="b" t="t" l="l"/>
            <a:pathLst>
              <a:path h="284659" w="284659">
                <a:moveTo>
                  <a:pt x="0" y="0"/>
                </a:moveTo>
                <a:lnTo>
                  <a:pt x="284659" y="0"/>
                </a:lnTo>
                <a:lnTo>
                  <a:pt x="284659" y="284659"/>
                </a:lnTo>
                <a:lnTo>
                  <a:pt x="0" y="284659"/>
                </a:lnTo>
                <a:lnTo>
                  <a:pt x="0" y="0"/>
                </a:lnTo>
                <a:close/>
              </a:path>
            </a:pathLst>
          </a:custGeom>
          <a:blipFill>
            <a:blip r:embed="rId11">
              <a:extLst>
                <a:ext uri="{96DAC541-7B7A-43D3-8B79-37D633B846F1}">
                  <asvg:svgBlip xmlns:asvg="http://schemas.microsoft.com/office/drawing/2016/SVG/main" r:embed="rId12"/>
                </a:ext>
              </a:extLst>
            </a:blip>
            <a:stretch>
              <a:fillRect l="0" t="-2378" r="0" b="-2378"/>
            </a:stretch>
          </a:blipFill>
        </p:spPr>
      </p:sp>
      <p:grpSp>
        <p:nvGrpSpPr>
          <p:cNvPr name="Group 28" id="28"/>
          <p:cNvGrpSpPr/>
          <p:nvPr/>
        </p:nvGrpSpPr>
        <p:grpSpPr>
          <a:xfrm rot="0">
            <a:off x="8993741" y="5580395"/>
            <a:ext cx="459493" cy="459493"/>
            <a:chOff x="0" y="0"/>
            <a:chExt cx="586384" cy="586384"/>
          </a:xfrm>
        </p:grpSpPr>
        <p:sp>
          <p:nvSpPr>
            <p:cNvPr name="Freeform 29" id="29"/>
            <p:cNvSpPr/>
            <p:nvPr/>
          </p:nvSpPr>
          <p:spPr>
            <a:xfrm flipH="false" flipV="false" rot="0">
              <a:off x="0" y="0"/>
              <a:ext cx="586359" cy="586359"/>
            </a:xfrm>
            <a:custGeom>
              <a:avLst/>
              <a:gdLst/>
              <a:ahLst/>
              <a:cxnLst/>
              <a:rect r="r" b="b" t="t" l="l"/>
              <a:pathLst>
                <a:path h="586359" w="586359">
                  <a:moveTo>
                    <a:pt x="0" y="293243"/>
                  </a:moveTo>
                  <a:cubicBezTo>
                    <a:pt x="0" y="131318"/>
                    <a:pt x="131318" y="0"/>
                    <a:pt x="293243" y="0"/>
                  </a:cubicBezTo>
                  <a:cubicBezTo>
                    <a:pt x="455168" y="0"/>
                    <a:pt x="586359" y="131318"/>
                    <a:pt x="586359" y="293243"/>
                  </a:cubicBezTo>
                  <a:cubicBezTo>
                    <a:pt x="586359" y="455168"/>
                    <a:pt x="455168" y="586359"/>
                    <a:pt x="293243" y="586359"/>
                  </a:cubicBezTo>
                  <a:cubicBezTo>
                    <a:pt x="131318" y="586359"/>
                    <a:pt x="0" y="455168"/>
                    <a:pt x="0" y="293243"/>
                  </a:cubicBezTo>
                  <a:close/>
                </a:path>
              </a:pathLst>
            </a:custGeom>
            <a:solidFill>
              <a:srgbClr val="07488F"/>
            </a:solidFill>
            <a:ln w="12700">
              <a:solidFill>
                <a:srgbClr val="000000"/>
              </a:solidFill>
            </a:ln>
          </p:spPr>
        </p:sp>
      </p:grpSp>
      <p:sp>
        <p:nvSpPr>
          <p:cNvPr name="Freeform 30" id="30" descr="preencoded.png"/>
          <p:cNvSpPr/>
          <p:nvPr/>
        </p:nvSpPr>
        <p:spPr>
          <a:xfrm flipH="false" flipV="false" rot="0">
            <a:off x="9074538" y="5661182"/>
            <a:ext cx="297919" cy="297919"/>
          </a:xfrm>
          <a:custGeom>
            <a:avLst/>
            <a:gdLst/>
            <a:ahLst/>
            <a:cxnLst/>
            <a:rect r="r" b="b" t="t" l="l"/>
            <a:pathLst>
              <a:path h="297919" w="297919">
                <a:moveTo>
                  <a:pt x="0" y="0"/>
                </a:moveTo>
                <a:lnTo>
                  <a:pt x="297919" y="0"/>
                </a:lnTo>
                <a:lnTo>
                  <a:pt x="297919" y="297919"/>
                </a:lnTo>
                <a:lnTo>
                  <a:pt x="0" y="29791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31" id="31"/>
          <p:cNvGrpSpPr/>
          <p:nvPr/>
        </p:nvGrpSpPr>
        <p:grpSpPr>
          <a:xfrm rot="0">
            <a:off x="8993751" y="7487672"/>
            <a:ext cx="459493" cy="459493"/>
            <a:chOff x="0" y="0"/>
            <a:chExt cx="586384" cy="586384"/>
          </a:xfrm>
        </p:grpSpPr>
        <p:sp>
          <p:nvSpPr>
            <p:cNvPr name="Freeform 32" id="32"/>
            <p:cNvSpPr/>
            <p:nvPr/>
          </p:nvSpPr>
          <p:spPr>
            <a:xfrm flipH="false" flipV="false" rot="0">
              <a:off x="0" y="0"/>
              <a:ext cx="586359" cy="586359"/>
            </a:xfrm>
            <a:custGeom>
              <a:avLst/>
              <a:gdLst/>
              <a:ahLst/>
              <a:cxnLst/>
              <a:rect r="r" b="b" t="t" l="l"/>
              <a:pathLst>
                <a:path h="586359" w="586359">
                  <a:moveTo>
                    <a:pt x="0" y="293243"/>
                  </a:moveTo>
                  <a:cubicBezTo>
                    <a:pt x="0" y="131318"/>
                    <a:pt x="131318" y="0"/>
                    <a:pt x="293243" y="0"/>
                  </a:cubicBezTo>
                  <a:cubicBezTo>
                    <a:pt x="455168" y="0"/>
                    <a:pt x="586359" y="131318"/>
                    <a:pt x="586359" y="293243"/>
                  </a:cubicBezTo>
                  <a:cubicBezTo>
                    <a:pt x="586359" y="455168"/>
                    <a:pt x="455168" y="586359"/>
                    <a:pt x="293243" y="586359"/>
                  </a:cubicBezTo>
                  <a:cubicBezTo>
                    <a:pt x="131318" y="586359"/>
                    <a:pt x="0" y="455168"/>
                    <a:pt x="0" y="293243"/>
                  </a:cubicBezTo>
                  <a:close/>
                </a:path>
              </a:pathLst>
            </a:custGeom>
            <a:solidFill>
              <a:srgbClr val="07488F"/>
            </a:solidFill>
            <a:ln w="12700">
              <a:solidFill>
                <a:srgbClr val="000000"/>
              </a:solidFill>
            </a:ln>
          </p:spPr>
        </p:sp>
      </p:grpSp>
      <p:sp>
        <p:nvSpPr>
          <p:cNvPr name="Freeform 33" id="33" descr="preencoded.png"/>
          <p:cNvSpPr/>
          <p:nvPr/>
        </p:nvSpPr>
        <p:spPr>
          <a:xfrm flipH="false" flipV="false" rot="0">
            <a:off x="9092733" y="7585759"/>
            <a:ext cx="263318" cy="263318"/>
          </a:xfrm>
          <a:custGeom>
            <a:avLst/>
            <a:gdLst/>
            <a:ahLst/>
            <a:cxnLst/>
            <a:rect r="r" b="b" t="t" l="l"/>
            <a:pathLst>
              <a:path h="263318" w="263318">
                <a:moveTo>
                  <a:pt x="0" y="0"/>
                </a:moveTo>
                <a:lnTo>
                  <a:pt x="263317" y="0"/>
                </a:lnTo>
                <a:lnTo>
                  <a:pt x="263317" y="263318"/>
                </a:lnTo>
                <a:lnTo>
                  <a:pt x="0" y="26331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4" id="34"/>
          <p:cNvSpPr txBox="true"/>
          <p:nvPr/>
        </p:nvSpPr>
        <p:spPr>
          <a:xfrm rot="0">
            <a:off x="10220884" y="1388612"/>
            <a:ext cx="4583430" cy="424345"/>
          </a:xfrm>
          <a:prstGeom prst="rect">
            <a:avLst/>
          </a:prstGeom>
        </p:spPr>
        <p:txBody>
          <a:bodyPr anchor="t" rtlCol="false" tIns="0" lIns="0" bIns="0" rIns="0">
            <a:spAutoFit/>
          </a:bodyPr>
          <a:lstStyle/>
          <a:p>
            <a:pPr algn="l">
              <a:lnSpc>
                <a:spcPts val="3442"/>
              </a:lnSpc>
            </a:pPr>
            <a:r>
              <a:rPr lang="en-US" b="true" sz="2777">
                <a:solidFill>
                  <a:srgbClr val="0C3571"/>
                </a:solidFill>
                <a:latin typeface="Anantason Bold"/>
                <a:ea typeface="Anantason Bold"/>
                <a:cs typeface="Anantason Bold"/>
                <a:sym typeface="Anantason Bold"/>
              </a:rPr>
              <a:t>Strategic Recommendations</a:t>
            </a:r>
          </a:p>
        </p:txBody>
      </p:sp>
      <p:sp>
        <p:nvSpPr>
          <p:cNvPr name="TextBox 35" id="35"/>
          <p:cNvSpPr txBox="true"/>
          <p:nvPr/>
        </p:nvSpPr>
        <p:spPr>
          <a:xfrm rot="0">
            <a:off x="8970245" y="2621832"/>
            <a:ext cx="2133928" cy="229947"/>
          </a:xfrm>
          <a:prstGeom prst="rect">
            <a:avLst/>
          </a:prstGeom>
        </p:spPr>
        <p:txBody>
          <a:bodyPr anchor="t" rtlCol="false" tIns="0" lIns="0" bIns="0" rIns="0">
            <a:spAutoFit/>
          </a:bodyPr>
          <a:lstStyle/>
          <a:p>
            <a:pPr algn="l">
              <a:lnSpc>
                <a:spcPts val="1888"/>
              </a:lnSpc>
            </a:pPr>
            <a:r>
              <a:rPr lang="en-US" sz="1550">
                <a:solidFill>
                  <a:srgbClr val="DCD7E5"/>
                </a:solidFill>
                <a:latin typeface="Cloud"/>
                <a:ea typeface="Cloud"/>
                <a:cs typeface="Cloud"/>
                <a:sym typeface="Cloud"/>
              </a:rPr>
              <a:t>Boost Subscriptions</a:t>
            </a:r>
          </a:p>
        </p:txBody>
      </p:sp>
      <p:sp>
        <p:nvSpPr>
          <p:cNvPr name="TextBox 36" id="36"/>
          <p:cNvSpPr txBox="true"/>
          <p:nvPr/>
        </p:nvSpPr>
        <p:spPr>
          <a:xfrm rot="0">
            <a:off x="8993721" y="2880354"/>
            <a:ext cx="5869774" cy="482746"/>
          </a:xfrm>
          <a:prstGeom prst="rect">
            <a:avLst/>
          </a:prstGeom>
        </p:spPr>
        <p:txBody>
          <a:bodyPr anchor="t" rtlCol="false" tIns="0" lIns="0" bIns="0" rIns="0">
            <a:spAutoFit/>
          </a:bodyPr>
          <a:lstStyle/>
          <a:p>
            <a:pPr algn="l">
              <a:lnSpc>
                <a:spcPts val="1955"/>
              </a:lnSpc>
            </a:pPr>
            <a:r>
              <a:rPr lang="en-US" sz="1213">
                <a:solidFill>
                  <a:srgbClr val="DCD7E5"/>
                </a:solidFill>
                <a:latin typeface="Cloud"/>
                <a:ea typeface="Cloud"/>
                <a:cs typeface="Cloud"/>
                <a:sym typeface="Cloud"/>
              </a:rPr>
              <a:t>Promote exclusive benefits, early access, and special pricing to drive subscription adoption and increase customer lifetime value</a:t>
            </a:r>
          </a:p>
        </p:txBody>
      </p:sp>
      <p:sp>
        <p:nvSpPr>
          <p:cNvPr name="TextBox 37" id="37"/>
          <p:cNvSpPr txBox="true"/>
          <p:nvPr/>
        </p:nvSpPr>
        <p:spPr>
          <a:xfrm rot="0">
            <a:off x="8993721" y="4461562"/>
            <a:ext cx="1955905" cy="229947"/>
          </a:xfrm>
          <a:prstGeom prst="rect">
            <a:avLst/>
          </a:prstGeom>
        </p:spPr>
        <p:txBody>
          <a:bodyPr anchor="t" rtlCol="false" tIns="0" lIns="0" bIns="0" rIns="0">
            <a:spAutoFit/>
          </a:bodyPr>
          <a:lstStyle/>
          <a:p>
            <a:pPr algn="l">
              <a:lnSpc>
                <a:spcPts val="1888"/>
              </a:lnSpc>
            </a:pPr>
            <a:r>
              <a:rPr lang="en-US" sz="1550">
                <a:solidFill>
                  <a:srgbClr val="DCD7E5"/>
                </a:solidFill>
                <a:latin typeface="Cloud"/>
                <a:ea typeface="Cloud"/>
                <a:cs typeface="Cloud"/>
                <a:sym typeface="Cloud"/>
              </a:rPr>
              <a:t>Loyalty Programs</a:t>
            </a:r>
          </a:p>
        </p:txBody>
      </p:sp>
      <p:sp>
        <p:nvSpPr>
          <p:cNvPr name="TextBox 38" id="38"/>
          <p:cNvSpPr txBox="true"/>
          <p:nvPr/>
        </p:nvSpPr>
        <p:spPr>
          <a:xfrm rot="0">
            <a:off x="8993721" y="4701315"/>
            <a:ext cx="5869774" cy="482746"/>
          </a:xfrm>
          <a:prstGeom prst="rect">
            <a:avLst/>
          </a:prstGeom>
        </p:spPr>
        <p:txBody>
          <a:bodyPr anchor="t" rtlCol="false" tIns="0" lIns="0" bIns="0" rIns="0">
            <a:spAutoFit/>
          </a:bodyPr>
          <a:lstStyle/>
          <a:p>
            <a:pPr algn="l">
              <a:lnSpc>
                <a:spcPts val="1955"/>
              </a:lnSpc>
            </a:pPr>
            <a:r>
              <a:rPr lang="en-US" sz="1213">
                <a:solidFill>
                  <a:srgbClr val="DCD7E5"/>
                </a:solidFill>
                <a:latin typeface="Cloud"/>
                <a:ea typeface="Cloud"/>
                <a:cs typeface="Cloud"/>
                <a:sym typeface="Cloud"/>
              </a:rPr>
              <a:t>Implement tiered reward systems that recognize and incentivize repeat purchases, increasing retention rates</a:t>
            </a:r>
          </a:p>
        </p:txBody>
      </p:sp>
      <p:sp>
        <p:nvSpPr>
          <p:cNvPr name="TextBox 39" id="39"/>
          <p:cNvSpPr txBox="true"/>
          <p:nvPr/>
        </p:nvSpPr>
        <p:spPr>
          <a:xfrm rot="0">
            <a:off x="8991268" y="6201813"/>
            <a:ext cx="1958358" cy="223320"/>
          </a:xfrm>
          <a:prstGeom prst="rect">
            <a:avLst/>
          </a:prstGeom>
        </p:spPr>
        <p:txBody>
          <a:bodyPr anchor="t" rtlCol="false" tIns="0" lIns="0" bIns="0" rIns="0">
            <a:spAutoFit/>
          </a:bodyPr>
          <a:lstStyle/>
          <a:p>
            <a:pPr algn="l">
              <a:lnSpc>
                <a:spcPts val="1755"/>
              </a:lnSpc>
            </a:pPr>
            <a:r>
              <a:rPr lang="en-US" sz="1442">
                <a:solidFill>
                  <a:srgbClr val="DCD7E5"/>
                </a:solidFill>
                <a:latin typeface="Cloud"/>
                <a:ea typeface="Cloud"/>
                <a:cs typeface="Cloud"/>
                <a:sym typeface="Cloud"/>
              </a:rPr>
              <a:t>Targeted Marketing</a:t>
            </a:r>
          </a:p>
        </p:txBody>
      </p:sp>
      <p:sp>
        <p:nvSpPr>
          <p:cNvPr name="TextBox 40" id="40"/>
          <p:cNvSpPr txBox="true"/>
          <p:nvPr/>
        </p:nvSpPr>
        <p:spPr>
          <a:xfrm rot="0">
            <a:off x="8991268" y="6479160"/>
            <a:ext cx="6493222" cy="443327"/>
          </a:xfrm>
          <a:prstGeom prst="rect">
            <a:avLst/>
          </a:prstGeom>
        </p:spPr>
        <p:txBody>
          <a:bodyPr anchor="t" rtlCol="false" tIns="0" lIns="0" bIns="0" rIns="0">
            <a:spAutoFit/>
          </a:bodyPr>
          <a:lstStyle/>
          <a:p>
            <a:pPr algn="l">
              <a:lnSpc>
                <a:spcPts val="1818"/>
              </a:lnSpc>
            </a:pPr>
            <a:r>
              <a:rPr lang="en-US" sz="1128">
                <a:solidFill>
                  <a:srgbClr val="DCD7E5"/>
                </a:solidFill>
                <a:latin typeface="Cloud"/>
                <a:ea typeface="Cloud"/>
                <a:cs typeface="Cloud"/>
                <a:sym typeface="Cloud"/>
              </a:rPr>
              <a:t>Focus campaigns on high-revenue segments including female customers, express shipping users, and discount-savvy premium buyers</a:t>
            </a:r>
          </a:p>
        </p:txBody>
      </p:sp>
      <p:sp>
        <p:nvSpPr>
          <p:cNvPr name="TextBox 41" id="41"/>
          <p:cNvSpPr txBox="true"/>
          <p:nvPr/>
        </p:nvSpPr>
        <p:spPr>
          <a:xfrm rot="0">
            <a:off x="8991268" y="8086916"/>
            <a:ext cx="1958358" cy="223773"/>
          </a:xfrm>
          <a:prstGeom prst="rect">
            <a:avLst/>
          </a:prstGeom>
        </p:spPr>
        <p:txBody>
          <a:bodyPr anchor="t" rtlCol="false" tIns="0" lIns="0" bIns="0" rIns="0">
            <a:spAutoFit/>
          </a:bodyPr>
          <a:lstStyle/>
          <a:p>
            <a:pPr algn="l">
              <a:lnSpc>
                <a:spcPts val="1759"/>
              </a:lnSpc>
            </a:pPr>
            <a:r>
              <a:rPr lang="en-US" sz="1445">
                <a:solidFill>
                  <a:srgbClr val="DCD7E5"/>
                </a:solidFill>
                <a:latin typeface="Cloud"/>
                <a:ea typeface="Cloud"/>
                <a:cs typeface="Cloud"/>
                <a:sym typeface="Cloud"/>
              </a:rPr>
              <a:t>Product Positioning</a:t>
            </a:r>
          </a:p>
        </p:txBody>
      </p:sp>
      <p:sp>
        <p:nvSpPr>
          <p:cNvPr name="TextBox 42" id="42"/>
          <p:cNvSpPr txBox="true"/>
          <p:nvPr/>
        </p:nvSpPr>
        <p:spPr>
          <a:xfrm rot="0">
            <a:off x="8991268" y="8349517"/>
            <a:ext cx="6198054" cy="444166"/>
          </a:xfrm>
          <a:prstGeom prst="rect">
            <a:avLst/>
          </a:prstGeom>
        </p:spPr>
        <p:txBody>
          <a:bodyPr anchor="t" rtlCol="false" tIns="0" lIns="0" bIns="0" rIns="0">
            <a:spAutoFit/>
          </a:bodyPr>
          <a:lstStyle/>
          <a:p>
            <a:pPr algn="l">
              <a:lnSpc>
                <a:spcPts val="1822"/>
              </a:lnSpc>
            </a:pPr>
            <a:r>
              <a:rPr lang="en-US" sz="1130">
                <a:solidFill>
                  <a:srgbClr val="DCD7E5"/>
                </a:solidFill>
                <a:latin typeface="Cloud"/>
                <a:ea typeface="Cloud"/>
                <a:cs typeface="Cloud"/>
                <a:sym typeface="Cloud"/>
              </a:rPr>
              <a:t>Prominently feature top-rated products like blouses and dresses in marketing campaigns to capitalize on proven customer satisfaction</a:t>
            </a:r>
          </a:p>
        </p:txBody>
      </p:sp>
      <p:sp>
        <p:nvSpPr>
          <p:cNvPr name="TextBox 43" id="43"/>
          <p:cNvSpPr txBox="true"/>
          <p:nvPr/>
        </p:nvSpPr>
        <p:spPr>
          <a:xfrm rot="0">
            <a:off x="8894179" y="9157935"/>
            <a:ext cx="6776871" cy="647689"/>
          </a:xfrm>
          <a:prstGeom prst="rect">
            <a:avLst/>
          </a:prstGeom>
        </p:spPr>
        <p:txBody>
          <a:bodyPr anchor="t" rtlCol="false" tIns="0" lIns="0" bIns="0" rIns="0">
            <a:spAutoFit/>
          </a:bodyPr>
          <a:lstStyle/>
          <a:p>
            <a:pPr algn="ctr">
              <a:lnSpc>
                <a:spcPts val="1751"/>
              </a:lnSpc>
            </a:pPr>
            <a:r>
              <a:rPr lang="en-US" sz="1086">
                <a:solidFill>
                  <a:srgbClr val="0C3571"/>
                </a:solidFill>
                <a:latin typeface="Cloud"/>
                <a:ea typeface="Cloud"/>
                <a:cs typeface="Cloud"/>
                <a:sym typeface="Cloud"/>
              </a:rPr>
              <a:t>These recommendations form an integrated approach to maximizing customer value across the entire lifecycle—from acquisition through loyalty. By focusing on proven high-value behaviors and segments, we can optimize marketing spend, improve retention, and drive sustainable revenue growth.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DAG8VjdBcto</dc:identifier>
  <dcterms:modified xsi:type="dcterms:W3CDTF">2011-08-01T06:04:30Z</dcterms:modified>
  <cp:revision>1</cp:revision>
  <dc:title>Flip dart Sales Analysis</dc:title>
</cp:coreProperties>
</file>